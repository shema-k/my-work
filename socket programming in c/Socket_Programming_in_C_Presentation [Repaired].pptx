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493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Socket Programming in C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programs talk to each other over a network - TCP, UDP and the socket API, with working client-server code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coursework presentation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</a:t>
            </a:r>
            <a:endParaRPr lang="en-US" sz="1200" dirty="0"/>
          </a:p>
        </p:txBody>
      </p:sp>
      <p:sp>
        <p:nvSpPr>
          <p:cNvPr id="6" name="c_a"/>
          <p:cNvSpPr/>
          <p:nvPr/>
        </p:nvSpPr>
        <p:spPr>
          <a:xfrm>
            <a:off x="5852160" y="1737360"/>
            <a:ext cx="1005840" cy="506943"/>
          </a:xfrm>
          <a:prstGeom prst="roundRect">
            <a:avLst>
              <a:gd name="adj" fmla="val 9019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7" name="c_b"/>
          <p:cNvSpPr/>
          <p:nvPr/>
        </p:nvSpPr>
        <p:spPr>
          <a:xfrm>
            <a:off x="5932627" y="1795296"/>
            <a:ext cx="844906" cy="39107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c_c"/>
          <p:cNvSpPr/>
          <p:nvPr/>
        </p:nvSpPr>
        <p:spPr>
          <a:xfrm>
            <a:off x="6274613" y="2244303"/>
            <a:ext cx="160934" cy="108631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9" name="c_d"/>
          <p:cNvSpPr/>
          <p:nvPr/>
        </p:nvSpPr>
        <p:spPr>
          <a:xfrm>
            <a:off x="6103620" y="2352934"/>
            <a:ext cx="502920" cy="50694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0" name="c_l"/>
          <p:cNvSpPr txBox="1"/>
          <p:nvPr/>
        </p:nvSpPr>
        <p:spPr>
          <a:xfrm>
            <a:off x="5577840" y="2488997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11" name="s_a"/>
          <p:cNvSpPr/>
          <p:nvPr/>
        </p:nvSpPr>
        <p:spPr>
          <a:xfrm>
            <a:off x="7589520" y="1737360"/>
            <a:ext cx="1005840" cy="506943"/>
          </a:xfrm>
          <a:prstGeom prst="roundRect">
            <a:avLst>
              <a:gd name="adj" fmla="val 901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_b"/>
          <p:cNvSpPr/>
          <p:nvPr/>
        </p:nvSpPr>
        <p:spPr>
          <a:xfrm>
            <a:off x="7669987" y="1795296"/>
            <a:ext cx="844906" cy="39107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_c"/>
          <p:cNvSpPr/>
          <p:nvPr/>
        </p:nvSpPr>
        <p:spPr>
          <a:xfrm>
            <a:off x="8011973" y="2244303"/>
            <a:ext cx="160934" cy="108631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_d"/>
          <p:cNvSpPr/>
          <p:nvPr/>
        </p:nvSpPr>
        <p:spPr>
          <a:xfrm>
            <a:off x="7840980" y="2352934"/>
            <a:ext cx="502920" cy="5069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_l"/>
          <p:cNvSpPr txBox="1"/>
          <p:nvPr/>
        </p:nvSpPr>
        <p:spPr>
          <a:xfrm>
            <a:off x="7315200" y="2488997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2103120"/>
            <a:ext cx="640080" cy="914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7" name="pk"/>
          <p:cNvSpPr/>
          <p:nvPr/>
        </p:nvSpPr>
        <p:spPr>
          <a:xfrm>
            <a:off x="6537960" y="26974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4B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192.168.1.20 : 49152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ED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192.168.1.10 : 5000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500 0.00000 E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1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first, then working code, then the practical issues</a:t>
            </a:r>
            <a:endParaRPr lang="en-US" sz="1300" dirty="0"/>
          </a:p>
        </p:txBody>
      </p:sp>
      <p:sp>
        <p:nvSpPr>
          <p:cNvPr id="4" name="card0"/>
          <p:cNvSpPr/>
          <p:nvPr/>
        </p:nvSpPr>
        <p:spPr>
          <a:xfrm>
            <a:off x="457200" y="11887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5" name="num0"/>
          <p:cNvSpPr/>
          <p:nvPr/>
        </p:nvSpPr>
        <p:spPr>
          <a:xfrm>
            <a:off x="594360" y="1362456"/>
            <a:ext cx="384048" cy="384048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0"/>
          <p:cNvSpPr txBox="1"/>
          <p:nvPr/>
        </p:nvSpPr>
        <p:spPr>
          <a:xfrm>
            <a:off x="1115568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socket?</a:t>
            </a:r>
            <a:endParaRPr lang="en-US" sz="1400" dirty="0"/>
          </a:p>
        </p:txBody>
      </p:sp>
      <p:sp>
        <p:nvSpPr>
          <p:cNvPr id="7" name="d0"/>
          <p:cNvSpPr txBox="1"/>
          <p:nvPr/>
        </p:nvSpPr>
        <p:spPr>
          <a:xfrm>
            <a:off x="1115568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IP addresses, ports, protocols</a:t>
            </a:r>
            <a:endParaRPr lang="en-US" sz="1100" dirty="0"/>
          </a:p>
        </p:txBody>
      </p:sp>
      <p:sp>
        <p:nvSpPr>
          <p:cNvPr id="8" name="card1"/>
          <p:cNvSpPr/>
          <p:nvPr/>
        </p:nvSpPr>
        <p:spPr>
          <a:xfrm>
            <a:off x="4709160" y="11887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9" name="num1"/>
          <p:cNvSpPr/>
          <p:nvPr/>
        </p:nvSpPr>
        <p:spPr>
          <a:xfrm>
            <a:off x="4846320" y="1362456"/>
            <a:ext cx="384048" cy="384048"/>
          </a:xfrm>
          <a:prstGeom prst="ellipse">
            <a:avLst/>
          </a:prstGeom>
          <a:solidFill>
            <a:srgbClr val="E07A2F"/>
          </a:solidFill>
          <a:ln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1"/>
          <p:cNvSpPr txBox="1"/>
          <p:nvPr/>
        </p:nvSpPr>
        <p:spPr>
          <a:xfrm>
            <a:off x="5367528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model</a:t>
            </a:r>
            <a:endParaRPr lang="en-US" sz="1400" dirty="0"/>
          </a:p>
        </p:txBody>
      </p:sp>
      <p:sp>
        <p:nvSpPr>
          <p:cNvPr id="11" name="d1"/>
          <p:cNvSpPr txBox="1"/>
          <p:nvPr/>
        </p:nvSpPr>
        <p:spPr>
          <a:xfrm>
            <a:off x="5367528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waits, who starts the conversation</a:t>
            </a:r>
            <a:endParaRPr lang="en-US" sz="1100" dirty="0"/>
          </a:p>
        </p:txBody>
      </p:sp>
      <p:sp>
        <p:nvSpPr>
          <p:cNvPr id="12" name="card2"/>
          <p:cNvSpPr/>
          <p:nvPr/>
        </p:nvSpPr>
        <p:spPr>
          <a:xfrm>
            <a:off x="457200" y="20574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3" name="num2"/>
          <p:cNvSpPr/>
          <p:nvPr/>
        </p:nvSpPr>
        <p:spPr>
          <a:xfrm>
            <a:off x="594360" y="2231136"/>
            <a:ext cx="384048" cy="384048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2"/>
          <p:cNvSpPr txBox="1"/>
          <p:nvPr/>
        </p:nvSpPr>
        <p:spPr>
          <a:xfrm>
            <a:off x="1115568" y="2167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vs UDP</a:t>
            </a:r>
            <a:endParaRPr lang="en-US" sz="1400" dirty="0"/>
          </a:p>
        </p:txBody>
      </p:sp>
      <p:sp>
        <p:nvSpPr>
          <p:cNvPr id="15" name="d2"/>
          <p:cNvSpPr txBox="1"/>
          <p:nvPr/>
        </p:nvSpPr>
        <p:spPr>
          <a:xfrm>
            <a:off x="1115568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 or postcard?</a:t>
            </a:r>
            <a:endParaRPr lang="en-US" sz="1100" dirty="0"/>
          </a:p>
        </p:txBody>
      </p:sp>
      <p:sp>
        <p:nvSpPr>
          <p:cNvPr id="16" name="card3"/>
          <p:cNvSpPr/>
          <p:nvPr/>
        </p:nvSpPr>
        <p:spPr>
          <a:xfrm>
            <a:off x="4709160" y="20574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7" name="num3"/>
          <p:cNvSpPr/>
          <p:nvPr/>
        </p:nvSpPr>
        <p:spPr>
          <a:xfrm>
            <a:off x="4846320" y="2231136"/>
            <a:ext cx="384048" cy="384048"/>
          </a:xfrm>
          <a:prstGeom prst="ellipse">
            <a:avLst/>
          </a:prstGeom>
          <a:solidFill>
            <a:srgbClr val="E07A2F"/>
          </a:solidFill>
          <a:ln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3"/>
          <p:cNvSpPr txBox="1"/>
          <p:nvPr/>
        </p:nvSpPr>
        <p:spPr>
          <a:xfrm>
            <a:off x="5367528" y="2167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 API</a:t>
            </a:r>
            <a:endParaRPr lang="en-US" sz="1400" dirty="0"/>
          </a:p>
        </p:txBody>
      </p:sp>
      <p:sp>
        <p:nvSpPr>
          <p:cNvPr id="19" name="d3"/>
          <p:cNvSpPr txBox="1"/>
          <p:nvPr/>
        </p:nvSpPr>
        <p:spPr>
          <a:xfrm>
            <a:off x="5367528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socket(), bind(), listen(), accept(), connect()...</a:t>
            </a:r>
            <a:endParaRPr lang="en-US" sz="1100" dirty="0"/>
          </a:p>
        </p:txBody>
      </p:sp>
      <p:sp>
        <p:nvSpPr>
          <p:cNvPr id="20" name="card4"/>
          <p:cNvSpPr/>
          <p:nvPr/>
        </p:nvSpPr>
        <p:spPr>
          <a:xfrm>
            <a:off x="457200" y="29260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1" name="num4"/>
          <p:cNvSpPr/>
          <p:nvPr/>
        </p:nvSpPr>
        <p:spPr>
          <a:xfrm>
            <a:off x="594360" y="3099816"/>
            <a:ext cx="384048" cy="384048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4"/>
          <p:cNvSpPr txBox="1"/>
          <p:nvPr/>
        </p:nvSpPr>
        <p:spPr>
          <a:xfrm>
            <a:off x="1115568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TCP conversation</a:t>
            </a:r>
            <a:endParaRPr lang="en-US" sz="1400" dirty="0"/>
          </a:p>
        </p:txBody>
      </p:sp>
      <p:sp>
        <p:nvSpPr>
          <p:cNvPr id="23" name="d4"/>
          <p:cNvSpPr txBox="1"/>
          <p:nvPr/>
        </p:nvSpPr>
        <p:spPr>
          <a:xfrm>
            <a:off x="1115568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sequence, handshake, termination - animated</a:t>
            </a:r>
            <a:endParaRPr lang="en-US" sz="1100" dirty="0"/>
          </a:p>
        </p:txBody>
      </p:sp>
      <p:sp>
        <p:nvSpPr>
          <p:cNvPr id="24" name="card5"/>
          <p:cNvSpPr/>
          <p:nvPr/>
        </p:nvSpPr>
        <p:spPr>
          <a:xfrm>
            <a:off x="4709160" y="29260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5" name="num5"/>
          <p:cNvSpPr/>
          <p:nvPr/>
        </p:nvSpPr>
        <p:spPr>
          <a:xfrm>
            <a:off x="4846320" y="3099816"/>
            <a:ext cx="384048" cy="384048"/>
          </a:xfrm>
          <a:prstGeom prst="ellipse">
            <a:avLst/>
          </a:prstGeom>
          <a:solidFill>
            <a:srgbClr val="E07A2F"/>
          </a:solidFill>
          <a:ln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5"/>
          <p:cNvSpPr txBox="1"/>
          <p:nvPr/>
        </p:nvSpPr>
        <p:spPr>
          <a:xfrm>
            <a:off x="5367528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programs</a:t>
            </a:r>
            <a:endParaRPr lang="en-US" sz="1400" dirty="0"/>
          </a:p>
        </p:txBody>
      </p:sp>
      <p:sp>
        <p:nvSpPr>
          <p:cNvPr id="27" name="d5"/>
          <p:cNvSpPr txBox="1"/>
          <p:nvPr/>
        </p:nvSpPr>
        <p:spPr>
          <a:xfrm>
            <a:off x="5367528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and UDP servers and clients, line by line</a:t>
            </a:r>
            <a:endParaRPr lang="en-US" sz="1100" dirty="0"/>
          </a:p>
        </p:txBody>
      </p:sp>
      <p:sp>
        <p:nvSpPr>
          <p:cNvPr id="28" name="card6"/>
          <p:cNvSpPr/>
          <p:nvPr/>
        </p:nvSpPr>
        <p:spPr>
          <a:xfrm>
            <a:off x="457200" y="37947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9" name="num6"/>
          <p:cNvSpPr/>
          <p:nvPr/>
        </p:nvSpPr>
        <p:spPr>
          <a:xfrm>
            <a:off x="594360" y="3968496"/>
            <a:ext cx="384048" cy="384048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6"/>
          <p:cNvSpPr txBox="1"/>
          <p:nvPr/>
        </p:nvSpPr>
        <p:spPr>
          <a:xfrm>
            <a:off x="1115568" y="3904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basics</a:t>
            </a:r>
            <a:endParaRPr lang="en-US" sz="1400" dirty="0"/>
          </a:p>
        </p:txBody>
      </p:sp>
      <p:sp>
        <p:nvSpPr>
          <p:cNvPr id="31" name="d6"/>
          <p:cNvSpPr txBox="1"/>
          <p:nvPr/>
        </p:nvSpPr>
        <p:spPr>
          <a:xfrm>
            <a:off x="1115568" y="4178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streams, errors, many clients, security</a:t>
            </a:r>
            <a:endParaRPr lang="en-US" sz="1100" dirty="0"/>
          </a:p>
        </p:txBody>
      </p:sp>
      <p:sp>
        <p:nvSpPr>
          <p:cNvPr id="32" name="card7"/>
          <p:cNvSpPr/>
          <p:nvPr/>
        </p:nvSpPr>
        <p:spPr>
          <a:xfrm>
            <a:off x="4709160" y="37947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33" name="num7"/>
          <p:cNvSpPr/>
          <p:nvPr/>
        </p:nvSpPr>
        <p:spPr>
          <a:xfrm>
            <a:off x="4846320" y="3968496"/>
            <a:ext cx="384048" cy="384048"/>
          </a:xfrm>
          <a:prstGeom prst="ellipse">
            <a:avLst/>
          </a:prstGeom>
          <a:solidFill>
            <a:srgbClr val="E07A2F"/>
          </a:solidFill>
          <a:ln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7"/>
          <p:cNvSpPr txBox="1"/>
          <p:nvPr/>
        </p:nvSpPr>
        <p:spPr>
          <a:xfrm>
            <a:off x="5367528" y="3904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5" name="d7"/>
          <p:cNvSpPr txBox="1"/>
          <p:nvPr/>
        </p:nvSpPr>
        <p:spPr>
          <a:xfrm>
            <a:off x="5367528" y="4178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socket?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 of a two-way conversation between two programs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socket is an endpoint of communication - like one telephone handset in a call.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three things: IP address + port number + protocol.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our C program it is just an integer: the socket descriptor.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OS it holds addresses, protocol state and send/receive buffers.</a:t>
            </a:r>
            <a:endParaRPr lang="en-US" sz="1300" dirty="0"/>
          </a:p>
        </p:txBody>
      </p:sp>
      <p:sp>
        <p:nvSpPr>
          <p:cNvPr id="5" name="pill0"/>
          <p:cNvSpPr/>
          <p:nvPr/>
        </p:nvSpPr>
        <p:spPr>
          <a:xfrm>
            <a:off x="457200" y="361188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pillt0"/>
          <p:cNvSpPr txBox="1"/>
          <p:nvPr/>
        </p:nvSpPr>
        <p:spPr>
          <a:xfrm>
            <a:off x="457200" y="3639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200" dirty="0"/>
          </a:p>
        </p:txBody>
      </p:sp>
      <p:sp>
        <p:nvSpPr>
          <p:cNvPr id="7" name="pilld0"/>
          <p:cNvSpPr txBox="1"/>
          <p:nvPr/>
        </p:nvSpPr>
        <p:spPr>
          <a:xfrm>
            <a:off x="457200" y="38770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computer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3611880"/>
            <a:ext cx="9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pill1"/>
          <p:cNvSpPr/>
          <p:nvPr/>
        </p:nvSpPr>
        <p:spPr>
          <a:xfrm>
            <a:off x="1737360" y="361188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E07A2F"/>
          </a:solidFill>
          <a:ln w="9525">
            <a:solidFill>
              <a:srgbClr val="E07A2F"/>
            </a:solidFill>
            <a:prstDash val="solid"/>
          </a:ln>
        </p:spPr>
      </p:sp>
      <p:sp>
        <p:nvSpPr>
          <p:cNvPr id="10" name="pillt1"/>
          <p:cNvSpPr txBox="1"/>
          <p:nvPr/>
        </p:nvSpPr>
        <p:spPr>
          <a:xfrm>
            <a:off x="1737360" y="3639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200" dirty="0"/>
          </a:p>
        </p:txBody>
      </p:sp>
      <p:sp>
        <p:nvSpPr>
          <p:cNvPr id="11" name="pilld1"/>
          <p:cNvSpPr txBox="1"/>
          <p:nvPr/>
        </p:nvSpPr>
        <p:spPr>
          <a:xfrm>
            <a:off x="1737360" y="38770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program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611880"/>
            <a:ext cx="9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pill2"/>
          <p:cNvSpPr/>
          <p:nvPr/>
        </p:nvSpPr>
        <p:spPr>
          <a:xfrm>
            <a:off x="3017520" y="361188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6C4AB6"/>
          </a:solidFill>
          <a:ln w="9525">
            <a:solidFill>
              <a:srgbClr val="6C4AB6"/>
            </a:solidFill>
            <a:prstDash val="solid"/>
          </a:ln>
        </p:spPr>
      </p:sp>
      <p:sp>
        <p:nvSpPr>
          <p:cNvPr id="14" name="pillt2"/>
          <p:cNvSpPr txBox="1"/>
          <p:nvPr/>
        </p:nvSpPr>
        <p:spPr>
          <a:xfrm>
            <a:off x="3017520" y="3639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</p:txBody>
      </p:sp>
      <p:sp>
        <p:nvSpPr>
          <p:cNvPr id="15" name="pilld2"/>
          <p:cNvSpPr txBox="1"/>
          <p:nvPr/>
        </p:nvSpPr>
        <p:spPr>
          <a:xfrm>
            <a:off x="3017520" y="38770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or UDP</a:t>
            </a:r>
            <a:endParaRPr lang="en-US" sz="900" dirty="0"/>
          </a:p>
        </p:txBody>
      </p:sp>
      <p:sp>
        <p:nvSpPr>
          <p:cNvPr id="16" name="pcA_a"/>
          <p:cNvSpPr/>
          <p:nvPr/>
        </p:nvSpPr>
        <p:spPr>
          <a:xfrm>
            <a:off x="4572000" y="1554480"/>
            <a:ext cx="1097280" cy="553029"/>
          </a:xfrm>
          <a:prstGeom prst="roundRect">
            <a:avLst>
              <a:gd name="adj" fmla="val 8267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7" name="pcA_b"/>
          <p:cNvSpPr/>
          <p:nvPr/>
        </p:nvSpPr>
        <p:spPr>
          <a:xfrm>
            <a:off x="4659782" y="1617683"/>
            <a:ext cx="921715" cy="4266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pcA_c"/>
          <p:cNvSpPr/>
          <p:nvPr/>
        </p:nvSpPr>
        <p:spPr>
          <a:xfrm>
            <a:off x="5032858" y="2107509"/>
            <a:ext cx="175565" cy="118506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9" name="pcA_d"/>
          <p:cNvSpPr/>
          <p:nvPr/>
        </p:nvSpPr>
        <p:spPr>
          <a:xfrm>
            <a:off x="4846320" y="2226015"/>
            <a:ext cx="548640" cy="55303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0" name="pcA_l"/>
          <p:cNvSpPr txBox="1"/>
          <p:nvPr/>
        </p:nvSpPr>
        <p:spPr>
          <a:xfrm>
            <a:off x="4297680" y="237195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computer</a:t>
            </a:r>
            <a:endParaRPr lang="en-US" sz="1100" dirty="0"/>
          </a:p>
        </p:txBody>
      </p:sp>
      <p:sp>
        <p:nvSpPr>
          <p:cNvPr id="21" name="pcB_a"/>
          <p:cNvSpPr/>
          <p:nvPr/>
        </p:nvSpPr>
        <p:spPr>
          <a:xfrm>
            <a:off x="7589520" y="1554480"/>
            <a:ext cx="1097280" cy="553029"/>
          </a:xfrm>
          <a:prstGeom prst="roundRect">
            <a:avLst>
              <a:gd name="adj" fmla="val 82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pcB_b"/>
          <p:cNvSpPr/>
          <p:nvPr/>
        </p:nvSpPr>
        <p:spPr>
          <a:xfrm>
            <a:off x="7677302" y="1617683"/>
            <a:ext cx="921715" cy="4266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cB_c"/>
          <p:cNvSpPr/>
          <p:nvPr/>
        </p:nvSpPr>
        <p:spPr>
          <a:xfrm>
            <a:off x="8050378" y="2107509"/>
            <a:ext cx="175565" cy="11850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pcB_d"/>
          <p:cNvSpPr/>
          <p:nvPr/>
        </p:nvSpPr>
        <p:spPr>
          <a:xfrm>
            <a:off x="7863840" y="2226015"/>
            <a:ext cx="548640" cy="55303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pcB_l"/>
          <p:cNvSpPr txBox="1"/>
          <p:nvPr/>
        </p:nvSpPr>
        <p:spPr>
          <a:xfrm>
            <a:off x="7315200" y="237195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computer</a:t>
            </a:r>
            <a:endParaRPr lang="en-US" sz="1100" dirty="0"/>
          </a:p>
        </p:txBody>
      </p:sp>
      <p:sp>
        <p:nvSpPr>
          <p:cNvPr id="26" name="sockA"/>
          <p:cNvSpPr/>
          <p:nvPr/>
        </p:nvSpPr>
        <p:spPr>
          <a:xfrm>
            <a:off x="5715000" y="1810512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</a:t>
            </a:r>
            <a:endParaRPr lang="en-US" sz="1100" dirty="0"/>
          </a:p>
        </p:txBody>
      </p:sp>
      <p:sp>
        <p:nvSpPr>
          <p:cNvPr id="27" name="sockB"/>
          <p:cNvSpPr/>
          <p:nvPr/>
        </p:nvSpPr>
        <p:spPr>
          <a:xfrm>
            <a:off x="6766560" y="1810512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</a:t>
            </a:r>
            <a:endParaRPr lang="en-US" sz="1100" dirty="0"/>
          </a:p>
        </p:txBody>
      </p:sp>
      <p:sp>
        <p:nvSpPr>
          <p:cNvPr id="28" name="lnk1"/>
          <p:cNvSpPr/>
          <p:nvPr/>
        </p:nvSpPr>
        <p:spPr>
          <a:xfrm>
            <a:off x="6492240" y="1920240"/>
            <a:ext cx="274320" cy="914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29" name="lnk2"/>
          <p:cNvSpPr/>
          <p:nvPr/>
        </p:nvSpPr>
        <p:spPr>
          <a:xfrm flipH="1">
            <a:off x="6492240" y="2048256"/>
            <a:ext cx="274320" cy="914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30" name="lnkt"/>
          <p:cNvSpPr txBox="1"/>
          <p:nvPr/>
        </p:nvSpPr>
        <p:spPr>
          <a:xfrm>
            <a:off x="5715000" y="2212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both ways</a:t>
            </a:r>
            <a:endParaRPr lang="en-US" sz="900" dirty="0"/>
          </a:p>
        </p:txBody>
      </p:sp>
      <p:sp>
        <p:nvSpPr>
          <p:cNvPr id="31" name="ipA"/>
          <p:cNvSpPr txBox="1"/>
          <p:nvPr/>
        </p:nvSpPr>
        <p:spPr>
          <a:xfrm>
            <a:off x="42976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192.168.1.20 : 49152</a:t>
            </a:r>
            <a:endParaRPr lang="en-US" sz="1100" dirty="0"/>
          </a:p>
        </p:txBody>
      </p:sp>
      <p:sp>
        <p:nvSpPr>
          <p:cNvPr id="32" name="ipAl"/>
          <p:cNvSpPr txBox="1"/>
          <p:nvPr/>
        </p:nvSpPr>
        <p:spPr>
          <a:xfrm>
            <a:off x="429768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: port</a:t>
            </a:r>
            <a:endParaRPr lang="en-US" sz="900" dirty="0"/>
          </a:p>
        </p:txBody>
      </p:sp>
      <p:sp>
        <p:nvSpPr>
          <p:cNvPr id="33" name="ipB"/>
          <p:cNvSpPr txBox="1"/>
          <p:nvPr/>
        </p:nvSpPr>
        <p:spPr>
          <a:xfrm>
            <a:off x="722376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192.168.1.10 : 5000</a:t>
            </a:r>
            <a:endParaRPr lang="en-US" sz="1100" dirty="0"/>
          </a:p>
        </p:txBody>
      </p:sp>
      <p:sp>
        <p:nvSpPr>
          <p:cNvPr id="34" name="ipBl"/>
          <p:cNvSpPr txBox="1"/>
          <p:nvPr/>
        </p:nvSpPr>
        <p:spPr>
          <a:xfrm>
            <a:off x="722376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: port</a:t>
            </a:r>
            <a:endParaRPr lang="en-US" sz="900" dirty="0"/>
          </a:p>
        </p:txBody>
      </p:sp>
      <p:sp>
        <p:nvSpPr>
          <p:cNvPr id="35" name="note"/>
          <p:cNvSpPr/>
          <p:nvPr/>
        </p:nvSpPr>
        <p:spPr>
          <a:xfrm>
            <a:off x="4572000" y="35661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1F5F7"/>
          </a:solidFill>
          <a:ln w="9525">
            <a:solidFill>
              <a:srgbClr val="F1F5F7"/>
            </a:solidFill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chose port 5000 so clients can find it.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client's port (49152) was picked automatically by the OS.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20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client-server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waits at a known address; clients start the conversation</a:t>
            </a:r>
            <a:endParaRPr lang="en-US" sz="1300" dirty="0"/>
          </a:p>
        </p:txBody>
      </p:sp>
      <p:sp>
        <p:nvSpPr>
          <p:cNvPr id="4" name="srvbox"/>
          <p:cNvSpPr/>
          <p:nvPr/>
        </p:nvSpPr>
        <p:spPr>
          <a:xfrm>
            <a:off x="6309360" y="146304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DDEEF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srv_a"/>
          <p:cNvSpPr/>
          <p:nvPr/>
        </p:nvSpPr>
        <p:spPr>
          <a:xfrm>
            <a:off x="6995160" y="1691640"/>
            <a:ext cx="1005840" cy="506943"/>
          </a:xfrm>
          <a:prstGeom prst="roundRect">
            <a:avLst>
              <a:gd name="adj" fmla="val 901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rv_b"/>
          <p:cNvSpPr/>
          <p:nvPr/>
        </p:nvSpPr>
        <p:spPr>
          <a:xfrm>
            <a:off x="7075627" y="1749576"/>
            <a:ext cx="844906" cy="39107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rv_c"/>
          <p:cNvSpPr/>
          <p:nvPr/>
        </p:nvSpPr>
        <p:spPr>
          <a:xfrm>
            <a:off x="7417613" y="2198583"/>
            <a:ext cx="160934" cy="108631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rv_d"/>
          <p:cNvSpPr/>
          <p:nvPr/>
        </p:nvSpPr>
        <p:spPr>
          <a:xfrm>
            <a:off x="7246620" y="2307214"/>
            <a:ext cx="502920" cy="5069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rvl"/>
          <p:cNvSpPr txBox="1"/>
          <p:nvPr/>
        </p:nvSpPr>
        <p:spPr>
          <a:xfrm>
            <a:off x="630936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0" name="srvd"/>
          <p:cNvSpPr txBox="1"/>
          <p:nvPr/>
        </p:nvSpPr>
        <p:spPr>
          <a:xfrm>
            <a:off x="630936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requests, replies</a:t>
            </a:r>
            <a:endParaRPr lang="en-US" sz="1000" dirty="0"/>
          </a:p>
        </p:txBody>
      </p:sp>
      <p:sp>
        <p:nvSpPr>
          <p:cNvPr id="11" name="srvp"/>
          <p:cNvSpPr txBox="1"/>
          <p:nvPr/>
        </p:nvSpPr>
        <p:spPr>
          <a:xfrm>
            <a:off x="630936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listens on 192.168.1.10:5000</a:t>
            </a:r>
            <a:endParaRPr lang="en-US" sz="950" dirty="0"/>
          </a:p>
        </p:txBody>
      </p:sp>
      <p:sp>
        <p:nvSpPr>
          <p:cNvPr id="12" name="cl0_a"/>
          <p:cNvSpPr/>
          <p:nvPr/>
        </p:nvSpPr>
        <p:spPr>
          <a:xfrm>
            <a:off x="640080" y="1234440"/>
            <a:ext cx="822960" cy="414772"/>
          </a:xfrm>
          <a:prstGeom prst="roundRect">
            <a:avLst>
              <a:gd name="adj" fmla="val 11023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3" name="cl0_b"/>
          <p:cNvSpPr/>
          <p:nvPr/>
        </p:nvSpPr>
        <p:spPr>
          <a:xfrm>
            <a:off x="705917" y="1281842"/>
            <a:ext cx="691286" cy="31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l0_c"/>
          <p:cNvSpPr/>
          <p:nvPr/>
        </p:nvSpPr>
        <p:spPr>
          <a:xfrm>
            <a:off x="985723" y="1649212"/>
            <a:ext cx="131674" cy="88880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5" name="cl0_d"/>
          <p:cNvSpPr/>
          <p:nvPr/>
        </p:nvSpPr>
        <p:spPr>
          <a:xfrm>
            <a:off x="845820" y="1738092"/>
            <a:ext cx="411480" cy="41477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6" name="cl0_l"/>
          <p:cNvSpPr txBox="1"/>
          <p:nvPr/>
        </p:nvSpPr>
        <p:spPr>
          <a:xfrm>
            <a:off x="365760" y="185440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1000" dirty="0"/>
          </a:p>
        </p:txBody>
      </p:sp>
      <p:sp>
        <p:nvSpPr>
          <p:cNvPr id="17" name="req0"/>
          <p:cNvSpPr/>
          <p:nvPr/>
        </p:nvSpPr>
        <p:spPr>
          <a:xfrm>
            <a:off x="1600200" y="1536192"/>
            <a:ext cx="4663440" cy="978408"/>
          </a:xfrm>
          <a:prstGeom prst="line">
            <a:avLst/>
          </a:prstGeom>
          <a:noFill/>
          <a:ln w="19050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18" name="cl1_a"/>
          <p:cNvSpPr/>
          <p:nvPr/>
        </p:nvSpPr>
        <p:spPr>
          <a:xfrm>
            <a:off x="640080" y="2286000"/>
            <a:ext cx="822960" cy="414772"/>
          </a:xfrm>
          <a:prstGeom prst="roundRect">
            <a:avLst>
              <a:gd name="adj" fmla="val 11023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9" name="cl1_b"/>
          <p:cNvSpPr/>
          <p:nvPr/>
        </p:nvSpPr>
        <p:spPr>
          <a:xfrm>
            <a:off x="705917" y="2333402"/>
            <a:ext cx="691286" cy="31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cl1_c"/>
          <p:cNvSpPr/>
          <p:nvPr/>
        </p:nvSpPr>
        <p:spPr>
          <a:xfrm>
            <a:off x="985723" y="2700772"/>
            <a:ext cx="131674" cy="88880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1" name="cl1_d"/>
          <p:cNvSpPr/>
          <p:nvPr/>
        </p:nvSpPr>
        <p:spPr>
          <a:xfrm>
            <a:off x="845820" y="2789652"/>
            <a:ext cx="411480" cy="41477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2" name="cl1_l"/>
          <p:cNvSpPr txBox="1"/>
          <p:nvPr/>
        </p:nvSpPr>
        <p:spPr>
          <a:xfrm>
            <a:off x="365760" y="290596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1000" dirty="0"/>
          </a:p>
        </p:txBody>
      </p:sp>
      <p:sp>
        <p:nvSpPr>
          <p:cNvPr id="23" name="req1"/>
          <p:cNvSpPr/>
          <p:nvPr/>
        </p:nvSpPr>
        <p:spPr>
          <a:xfrm flipV="1">
            <a:off x="1600200" y="2514600"/>
            <a:ext cx="4663440" cy="73152"/>
          </a:xfrm>
          <a:prstGeom prst="line">
            <a:avLst/>
          </a:prstGeom>
          <a:noFill/>
          <a:ln w="19050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24" name="cl2_a"/>
          <p:cNvSpPr/>
          <p:nvPr/>
        </p:nvSpPr>
        <p:spPr>
          <a:xfrm>
            <a:off x="640080" y="3337560"/>
            <a:ext cx="822960" cy="414772"/>
          </a:xfrm>
          <a:prstGeom prst="roundRect">
            <a:avLst>
              <a:gd name="adj" fmla="val 11023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5" name="cl2_b"/>
          <p:cNvSpPr/>
          <p:nvPr/>
        </p:nvSpPr>
        <p:spPr>
          <a:xfrm>
            <a:off x="705917" y="3384962"/>
            <a:ext cx="691286" cy="31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cl2_c"/>
          <p:cNvSpPr/>
          <p:nvPr/>
        </p:nvSpPr>
        <p:spPr>
          <a:xfrm>
            <a:off x="985723" y="3752332"/>
            <a:ext cx="131674" cy="88880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7" name="cl2_d"/>
          <p:cNvSpPr/>
          <p:nvPr/>
        </p:nvSpPr>
        <p:spPr>
          <a:xfrm>
            <a:off x="845820" y="3841212"/>
            <a:ext cx="411480" cy="41477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8" name="cl2_l"/>
          <p:cNvSpPr txBox="1"/>
          <p:nvPr/>
        </p:nvSpPr>
        <p:spPr>
          <a:xfrm>
            <a:off x="365760" y="395752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</a:t>
            </a:r>
            <a:endParaRPr lang="en-US" sz="1000" dirty="0"/>
          </a:p>
        </p:txBody>
      </p:sp>
      <p:sp>
        <p:nvSpPr>
          <p:cNvPr id="29" name="req2"/>
          <p:cNvSpPr/>
          <p:nvPr/>
        </p:nvSpPr>
        <p:spPr>
          <a:xfrm flipV="1">
            <a:off x="1600200" y="2514600"/>
            <a:ext cx="4663440" cy="1124712"/>
          </a:xfrm>
          <a:prstGeom prst="line">
            <a:avLst/>
          </a:prstGeom>
          <a:noFill/>
          <a:ln w="19050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30" name="reqt"/>
          <p:cNvSpPr txBox="1"/>
          <p:nvPr/>
        </p:nvSpPr>
        <p:spPr>
          <a:xfrm>
            <a:off x="292608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31" name="resp"/>
          <p:cNvSpPr/>
          <p:nvPr/>
        </p:nvSpPr>
        <p:spPr>
          <a:xfrm flipH="1">
            <a:off x="1600200" y="2697480"/>
            <a:ext cx="4663440" cy="118872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32" name="respt"/>
          <p:cNvSpPr txBox="1"/>
          <p:nvPr/>
        </p:nvSpPr>
        <p:spPr>
          <a:xfrm>
            <a:off x="3566160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3" name="seqc"/>
          <p:cNvSpPr/>
          <p:nvPr/>
        </p:nvSpPr>
        <p:spPr>
          <a:xfrm>
            <a:off x="457200" y="4224528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BE8D8"/>
          </a:solidFill>
          <a:ln w="9525">
            <a:solidFill>
              <a:srgbClr val="FBE8D8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Client:  socket() -&gt; connect() -&gt; send()/recv() -&gt; close()</a:t>
            </a:r>
            <a:endParaRPr lang="en-US" sz="900" dirty="0"/>
          </a:p>
        </p:txBody>
      </p:sp>
      <p:sp>
        <p:nvSpPr>
          <p:cNvPr id="34" name="seqs"/>
          <p:cNvSpPr/>
          <p:nvPr/>
        </p:nvSpPr>
        <p:spPr>
          <a:xfrm>
            <a:off x="4663440" y="4224528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DDEEF4"/>
          </a:solidFill>
          <a:ln w="9525">
            <a:solidFill>
              <a:srgbClr val="DDEEF4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  socket() -&gt; bind() -&gt; listen() -&gt; accept() -&gt; ...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6" grpId="0" animBg="1"/>
      <p:bldP spid="22" grpId="0" animBg="1"/>
      <p:bldP spid="28" grpId="0" animBg="1"/>
      <p:bldP spid="30" grpId="0" animBg="1"/>
      <p:bldP spid="32" grpId="0" animBg="1"/>
      <p:bldP spid="33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sockets sit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 API is the door between our program and the operating system's network stack</a:t>
            </a:r>
            <a:endParaRPr lang="en-US" sz="1300" dirty="0"/>
          </a:p>
        </p:txBody>
      </p:sp>
      <p:sp>
        <p:nvSpPr>
          <p:cNvPr id="4" name="L0"/>
          <p:cNvSpPr/>
          <p:nvPr/>
        </p:nvSpPr>
        <p:spPr>
          <a:xfrm>
            <a:off x="822960" y="123444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23C4E"/>
          </a:solidFill>
          <a:ln w="9525">
            <a:solidFill>
              <a:srgbClr val="123C4E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5" name="D0"/>
          <p:cNvSpPr/>
          <p:nvPr/>
        </p:nvSpPr>
        <p:spPr>
          <a:xfrm>
            <a:off x="2377440" y="123444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1F5F7"/>
          </a:solidFill>
          <a:ln w="9525">
            <a:solidFill>
              <a:srgbClr val="C9D3D9"/>
            </a:solidFill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program: tcp_server.c, a browser, a chat app</a:t>
            </a:r>
            <a:endParaRPr lang="en-US" sz="1100" dirty="0"/>
          </a:p>
        </p:txBody>
      </p:sp>
      <p:sp>
        <p:nvSpPr>
          <p:cNvPr id="6" name="L1"/>
          <p:cNvSpPr/>
          <p:nvPr/>
        </p:nvSpPr>
        <p:spPr>
          <a:xfrm>
            <a:off x="822960" y="1837944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7" name="D1"/>
          <p:cNvSpPr/>
          <p:nvPr/>
        </p:nvSpPr>
        <p:spPr>
          <a:xfrm>
            <a:off x="2377440" y="1837944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1F5F7"/>
          </a:solidFill>
          <a:ln w="9525">
            <a:solidFill>
              <a:srgbClr val="C9D3D9"/>
            </a:solidFill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/ UDP - ports, reliability (TCP)</a:t>
            </a:r>
            <a:endParaRPr lang="en-US" sz="1100" dirty="0"/>
          </a:p>
        </p:txBody>
      </p:sp>
      <p:sp>
        <p:nvSpPr>
          <p:cNvPr id="8" name="L2"/>
          <p:cNvSpPr/>
          <p:nvPr/>
        </p:nvSpPr>
        <p:spPr>
          <a:xfrm>
            <a:off x="822960" y="2441448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3A7CA5"/>
          </a:solidFill>
          <a:ln w="9525">
            <a:solidFill>
              <a:srgbClr val="3A7CA5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9" name="D2"/>
          <p:cNvSpPr/>
          <p:nvPr/>
        </p:nvSpPr>
        <p:spPr>
          <a:xfrm>
            <a:off x="2377440" y="2441448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1F5F7"/>
          </a:solidFill>
          <a:ln w="9525">
            <a:solidFill>
              <a:srgbClr val="C9D3D9"/>
            </a:solidFill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- addressing and routing between networks</a:t>
            </a:r>
            <a:endParaRPr lang="en-US" sz="1100" dirty="0"/>
          </a:p>
        </p:txBody>
      </p:sp>
      <p:sp>
        <p:nvSpPr>
          <p:cNvPr id="10" name="L3"/>
          <p:cNvSpPr/>
          <p:nvPr/>
        </p:nvSpPr>
        <p:spPr>
          <a:xfrm>
            <a:off x="822960" y="3044952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6C8EA4"/>
          </a:solidFill>
          <a:ln w="9525">
            <a:solidFill>
              <a:srgbClr val="6C8EA4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300" dirty="0"/>
          </a:p>
        </p:txBody>
      </p:sp>
      <p:sp>
        <p:nvSpPr>
          <p:cNvPr id="11" name="D3"/>
          <p:cNvSpPr/>
          <p:nvPr/>
        </p:nvSpPr>
        <p:spPr>
          <a:xfrm>
            <a:off x="2377440" y="3044952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1F5F7"/>
          </a:solidFill>
          <a:ln w="9525">
            <a:solidFill>
              <a:srgbClr val="C9D3D9"/>
            </a:solidFill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/ Wi-Fi - frames on the local network</a:t>
            </a:r>
            <a:endParaRPr lang="en-US" sz="1100" dirty="0"/>
          </a:p>
        </p:txBody>
      </p:sp>
      <p:sp>
        <p:nvSpPr>
          <p:cNvPr id="12" name="L4"/>
          <p:cNvSpPr/>
          <p:nvPr/>
        </p:nvSpPr>
        <p:spPr>
          <a:xfrm>
            <a:off x="822960" y="3648456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8FA8B8"/>
          </a:solidFill>
          <a:ln w="9525">
            <a:solidFill>
              <a:srgbClr val="8FA8B8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300" dirty="0"/>
          </a:p>
        </p:txBody>
      </p:sp>
      <p:sp>
        <p:nvSpPr>
          <p:cNvPr id="13" name="D4"/>
          <p:cNvSpPr/>
          <p:nvPr/>
        </p:nvSpPr>
        <p:spPr>
          <a:xfrm>
            <a:off x="2377440" y="3648456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1F5F7"/>
          </a:solidFill>
          <a:ln w="9525">
            <a:solidFill>
              <a:srgbClr val="C9D3D9"/>
            </a:solidFill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Cables, radio, light - the actual signals</a:t>
            </a:r>
            <a:endParaRPr lang="en-US" sz="1100" dirty="0"/>
          </a:p>
        </p:txBody>
      </p:sp>
      <p:sp>
        <p:nvSpPr>
          <p:cNvPr id="14" name="pk"/>
          <p:cNvSpPr/>
          <p:nvPr/>
        </p:nvSpPr>
        <p:spPr>
          <a:xfrm>
            <a:off x="137160" y="1344168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00" dirty="0"/>
          </a:p>
        </p:txBody>
      </p:sp>
      <p:sp>
        <p:nvSpPr>
          <p:cNvPr id="15" name="brk"/>
          <p:cNvSpPr/>
          <p:nvPr/>
        </p:nvSpPr>
        <p:spPr>
          <a:xfrm>
            <a:off x="6126480" y="1234440"/>
            <a:ext cx="54864" cy="1106424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6" name="brkt"/>
          <p:cNvSpPr txBox="1"/>
          <p:nvPr/>
        </p:nvSpPr>
        <p:spPr>
          <a:xfrm>
            <a:off x="6309360" y="1234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API</a:t>
            </a:r>
            <a:endParaRPr lang="en-US" sz="1400" dirty="0"/>
          </a:p>
        </p:txBody>
      </p:sp>
      <p:sp>
        <p:nvSpPr>
          <p:cNvPr id="17" name="brkc"/>
          <p:cNvSpPr txBox="1"/>
          <p:nvPr/>
        </p:nvSpPr>
        <p:spPr>
          <a:xfrm>
            <a:off x="630936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socket(), bind(), connect(),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send(), recv() ...</a:t>
            </a:r>
            <a:endParaRPr lang="en-US" sz="950" dirty="0"/>
          </a:p>
        </p:txBody>
      </p:sp>
      <p:sp>
        <p:nvSpPr>
          <p:cNvPr id="18" name="brkd"/>
          <p:cNvSpPr txBox="1"/>
          <p:nvPr/>
        </p:nvSpPr>
        <p:spPr>
          <a:xfrm>
            <a:off x="630936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part we program.</a:t>
            </a:r>
            <a:endParaRPr lang="en-US" sz="1100" dirty="0"/>
          </a:p>
        </p:txBody>
      </p:sp>
      <p:sp>
        <p:nvSpPr>
          <p:cNvPr id="19" name="brk2"/>
          <p:cNvSpPr/>
          <p:nvPr/>
        </p:nvSpPr>
        <p:spPr>
          <a:xfrm>
            <a:off x="6126480" y="2441448"/>
            <a:ext cx="54864" cy="1709928"/>
          </a:xfrm>
          <a:prstGeom prst="rect">
            <a:avLst/>
          </a:prstGeom>
          <a:solidFill>
            <a:srgbClr val="C9D3D9"/>
          </a:solidFill>
          <a:ln w="12700">
            <a:solidFill>
              <a:srgbClr val="C9D3D9"/>
            </a:solidFill>
            <a:prstDash val="solid"/>
          </a:ln>
        </p:spPr>
      </p:sp>
      <p:sp>
        <p:nvSpPr>
          <p:cNvPr id="20" name="brk2t"/>
          <p:cNvSpPr txBox="1"/>
          <p:nvPr/>
        </p:nvSpPr>
        <p:spPr>
          <a:xfrm>
            <a:off x="6309360" y="2514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by the operating system and the hardware - not by the programmer. That is why the same simple code works on home Wi-Fi and across the Internet.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6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words you will meet in every socket program</a:t>
            </a:r>
            <a:endParaRPr lang="en-US" sz="1300" dirty="0"/>
          </a:p>
        </p:txBody>
      </p:sp>
      <p:sp>
        <p:nvSpPr>
          <p:cNvPr id="4" name="c0"/>
          <p:cNvSpPr/>
          <p:nvPr/>
        </p:nvSpPr>
        <p:spPr>
          <a:xfrm>
            <a:off x="457200" y="11887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5" name="ci0"/>
          <p:cNvSpPr/>
          <p:nvPr/>
        </p:nvSpPr>
        <p:spPr>
          <a:xfrm>
            <a:off x="621792" y="1371600"/>
            <a:ext cx="457200" cy="457200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t0"/>
          <p:cNvSpPr txBox="1"/>
          <p:nvPr/>
        </p:nvSpPr>
        <p:spPr>
          <a:xfrm>
            <a:off x="123444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500" dirty="0"/>
          </a:p>
        </p:txBody>
      </p:sp>
      <p:sp>
        <p:nvSpPr>
          <p:cNvPr id="7" name="cd0"/>
          <p:cNvSpPr txBox="1"/>
          <p:nvPr/>
        </p:nvSpPr>
        <p:spPr>
          <a:xfrm>
            <a:off x="1234440" y="1645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 computer on the network.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 = this computer (loopback), perfect for testing on one PC.</a:t>
            </a:r>
            <a:endParaRPr lang="en-US" sz="1100" dirty="0"/>
          </a:p>
        </p:txBody>
      </p:sp>
      <p:sp>
        <p:nvSpPr>
          <p:cNvPr id="8" name="c1"/>
          <p:cNvSpPr/>
          <p:nvPr/>
        </p:nvSpPr>
        <p:spPr>
          <a:xfrm>
            <a:off x="4709160" y="11887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9" name="ci1"/>
          <p:cNvSpPr/>
          <p:nvPr/>
        </p:nvSpPr>
        <p:spPr>
          <a:xfrm>
            <a:off x="4873752" y="1371600"/>
            <a:ext cx="457200" cy="457200"/>
          </a:xfrm>
          <a:prstGeom prst="ellipse">
            <a:avLst/>
          </a:prstGeom>
          <a:solidFill>
            <a:srgbClr val="E07A2F"/>
          </a:solidFill>
          <a:ln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ct1"/>
          <p:cNvSpPr txBox="1"/>
          <p:nvPr/>
        </p:nvSpPr>
        <p:spPr>
          <a:xfrm>
            <a:off x="548640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number</a:t>
            </a:r>
            <a:endParaRPr lang="en-US" sz="1500" dirty="0"/>
          </a:p>
        </p:txBody>
      </p:sp>
      <p:sp>
        <p:nvSpPr>
          <p:cNvPr id="11" name="cd1"/>
          <p:cNvSpPr txBox="1"/>
          <p:nvPr/>
        </p:nvSpPr>
        <p:spPr>
          <a:xfrm>
            <a:off x="5486400" y="1645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0-65535. Identifies one program on that computer.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+ port = one specific endpoint.</a:t>
            </a:r>
            <a:endParaRPr lang="en-US" sz="1100" dirty="0"/>
          </a:p>
        </p:txBody>
      </p:sp>
      <p:sp>
        <p:nvSpPr>
          <p:cNvPr id="12" name="c2"/>
          <p:cNvSpPr/>
          <p:nvPr/>
        </p:nvSpPr>
        <p:spPr>
          <a:xfrm>
            <a:off x="457200" y="25146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3" name="ci2"/>
          <p:cNvSpPr/>
          <p:nvPr/>
        </p:nvSpPr>
        <p:spPr>
          <a:xfrm>
            <a:off x="621792" y="2697480"/>
            <a:ext cx="457200" cy="457200"/>
          </a:xfrm>
          <a:prstGeom prst="ellipse">
            <a:avLst/>
          </a:prstGeom>
          <a:solidFill>
            <a:srgbClr val="6C4AB6"/>
          </a:solidFill>
          <a:ln>
            <a:solidFill>
              <a:srgbClr val="6C4A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ct2"/>
          <p:cNvSpPr txBox="1"/>
          <p:nvPr/>
        </p:nvSpPr>
        <p:spPr>
          <a:xfrm>
            <a:off x="123444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500" dirty="0"/>
          </a:p>
        </p:txBody>
      </p:sp>
      <p:sp>
        <p:nvSpPr>
          <p:cNvPr id="15" name="cd2"/>
          <p:cNvSpPr txBox="1"/>
          <p:nvPr/>
        </p:nvSpPr>
        <p:spPr>
          <a:xfrm>
            <a:off x="1234440" y="2971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both sides follow: TCP (SOCK_STREAM) or UDP (SOCK_DGRAM).</a:t>
            </a:r>
            <a:endParaRPr lang="en-US" sz="1100" dirty="0"/>
          </a:p>
        </p:txBody>
      </p:sp>
      <p:sp>
        <p:nvSpPr>
          <p:cNvPr id="16" name="c3"/>
          <p:cNvSpPr/>
          <p:nvPr/>
        </p:nvSpPr>
        <p:spPr>
          <a:xfrm>
            <a:off x="4709160" y="25146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7" name="ci3"/>
          <p:cNvSpPr/>
          <p:nvPr/>
        </p:nvSpPr>
        <p:spPr>
          <a:xfrm>
            <a:off x="4873752" y="2697480"/>
            <a:ext cx="457200" cy="457200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ct3"/>
          <p:cNvSpPr txBox="1"/>
          <p:nvPr/>
        </p:nvSpPr>
        <p:spPr>
          <a:xfrm>
            <a:off x="548640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descriptor</a:t>
            </a:r>
            <a:endParaRPr lang="en-US" sz="1500" dirty="0"/>
          </a:p>
        </p:txBody>
      </p:sp>
      <p:sp>
        <p:nvSpPr>
          <p:cNvPr id="19" name="cd3"/>
          <p:cNvSpPr txBox="1"/>
          <p:nvPr/>
        </p:nvSpPr>
        <p:spPr>
          <a:xfrm>
            <a:off x="5486400" y="2971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integer socket() returns. Pass it to every other call. -1 means failure - always check!</a:t>
            </a:r>
            <a:endParaRPr lang="en-US" sz="1100" dirty="0"/>
          </a:p>
        </p:txBody>
      </p:sp>
      <p:sp>
        <p:nvSpPr>
          <p:cNvPr id="20" name="pr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ranges</a:t>
            </a:r>
            <a:endParaRPr lang="en-US" sz="1200" dirty="0"/>
          </a:p>
        </p:txBody>
      </p:sp>
      <p:sp>
        <p:nvSpPr>
          <p:cNvPr id="21" name="pr0"/>
          <p:cNvSpPr/>
          <p:nvPr/>
        </p:nvSpPr>
        <p:spPr>
          <a:xfrm>
            <a:off x="457200" y="416052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2" name="prt0"/>
          <p:cNvSpPr txBox="1"/>
          <p:nvPr/>
        </p:nvSpPr>
        <p:spPr>
          <a:xfrm>
            <a:off x="548640" y="4187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0 - 1023</a:t>
            </a:r>
            <a:endParaRPr lang="en-US" sz="1100" dirty="0"/>
          </a:p>
        </p:txBody>
      </p:sp>
      <p:sp>
        <p:nvSpPr>
          <p:cNvPr id="23" name="prd0"/>
          <p:cNvSpPr txBox="1"/>
          <p:nvPr/>
        </p:nvSpPr>
        <p:spPr>
          <a:xfrm>
            <a:off x="548640" y="4407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well-known (HTTP 80, HTTPS 443, SSH 22, DNS 53)</a:t>
            </a:r>
            <a:endParaRPr lang="en-US" sz="900" dirty="0"/>
          </a:p>
        </p:txBody>
      </p:sp>
      <p:sp>
        <p:nvSpPr>
          <p:cNvPr id="24" name="pr1"/>
          <p:cNvSpPr/>
          <p:nvPr/>
        </p:nvSpPr>
        <p:spPr>
          <a:xfrm>
            <a:off x="3246120" y="416052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07A2F"/>
            </a:solidFill>
            <a:prstDash val="solid"/>
          </a:ln>
        </p:spPr>
      </p:sp>
      <p:sp>
        <p:nvSpPr>
          <p:cNvPr id="25" name="prt1"/>
          <p:cNvSpPr txBox="1"/>
          <p:nvPr/>
        </p:nvSpPr>
        <p:spPr>
          <a:xfrm>
            <a:off x="3337560" y="4187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1024 - 49151</a:t>
            </a:r>
            <a:endParaRPr lang="en-US" sz="1100" dirty="0"/>
          </a:p>
        </p:txBody>
      </p:sp>
      <p:sp>
        <p:nvSpPr>
          <p:cNvPr id="26" name="prd1"/>
          <p:cNvSpPr txBox="1"/>
          <p:nvPr/>
        </p:nvSpPr>
        <p:spPr>
          <a:xfrm>
            <a:off x="3337560" y="4407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- our examples use 5000 / 5001</a:t>
            </a:r>
            <a:endParaRPr lang="en-US" sz="900" dirty="0"/>
          </a:p>
        </p:txBody>
      </p:sp>
      <p:sp>
        <p:nvSpPr>
          <p:cNvPr id="27" name="pr2"/>
          <p:cNvSpPr/>
          <p:nvPr/>
        </p:nvSpPr>
        <p:spPr>
          <a:xfrm>
            <a:off x="6035040" y="416052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28" name="prt2"/>
          <p:cNvSpPr txBox="1"/>
          <p:nvPr/>
        </p:nvSpPr>
        <p:spPr>
          <a:xfrm>
            <a:off x="6126480" y="4187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49152 - 65535</a:t>
            </a:r>
            <a:endParaRPr lang="en-US" sz="1100" dirty="0"/>
          </a:p>
        </p:txBody>
      </p:sp>
      <p:sp>
        <p:nvSpPr>
          <p:cNvPr id="29" name="prd2"/>
          <p:cNvSpPr txBox="1"/>
          <p:nvPr/>
        </p:nvSpPr>
        <p:spPr>
          <a:xfrm>
            <a:off x="6126480" y="4407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- chosen by the OS for clients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or UDP?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transport protocols you can choose when creating a socket</a:t>
            </a:r>
            <a:endParaRPr lang="en-US" sz="1300" dirty="0"/>
          </a:p>
        </p:txBody>
      </p:sp>
      <p:sp>
        <p:nvSpPr>
          <p:cNvPr id="4" name="tcp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DDEEF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tcpt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 =  a phone call</a:t>
            </a:r>
            <a:endParaRPr lang="en-US" sz="1800" dirty="0"/>
          </a:p>
        </p:txBody>
      </p:sp>
      <p:sp>
        <p:nvSpPr>
          <p:cNvPr id="6" name="tcps"/>
          <p:cNvSpPr txBox="1"/>
          <p:nvPr/>
        </p:nvSpPr>
        <p:spPr>
          <a:xfrm>
            <a:off x="6400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SOCK_STREAM  -  connection-oriented</a:t>
            </a:r>
            <a:endParaRPr lang="en-US" sz="1000" dirty="0"/>
          </a:p>
        </p:txBody>
      </p:sp>
      <p:sp>
        <p:nvSpPr>
          <p:cNvPr id="7" name="tcpb"/>
          <p:cNvSpPr txBox="1"/>
          <p:nvPr/>
        </p:nvSpPr>
        <p:spPr>
          <a:xfrm>
            <a:off x="640080" y="20116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first: connect() and accept() perform a handshake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arrives, in order - lost data is re-sent automatically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byte stream: no message boundaries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start, more overhead - but reliable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email, file transfer, SSH, databases</a:t>
            </a:r>
            <a:endParaRPr lang="en-US" sz="1200" dirty="0"/>
          </a:p>
        </p:txBody>
      </p:sp>
      <p:sp>
        <p:nvSpPr>
          <p:cNvPr id="8" name="udp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BE8D8"/>
          </a:solidFill>
          <a:ln w="9525">
            <a:solidFill>
              <a:srgbClr val="E07A2F"/>
            </a:solidFill>
            <a:prstDash val="solid"/>
          </a:ln>
        </p:spPr>
      </p:sp>
      <p:sp>
        <p:nvSpPr>
          <p:cNvPr id="9" name="udpt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UDP  =  a postcard</a:t>
            </a:r>
            <a:endParaRPr lang="en-US" sz="1800" dirty="0"/>
          </a:p>
        </p:txBody>
      </p:sp>
      <p:sp>
        <p:nvSpPr>
          <p:cNvPr id="10" name="udps"/>
          <p:cNvSpPr txBox="1"/>
          <p:nvPr/>
        </p:nvSpPr>
        <p:spPr>
          <a:xfrm>
            <a:off x="484632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SOCK_DGRAM  -  connectionless</a:t>
            </a:r>
            <a:endParaRPr lang="en-US" sz="1000" dirty="0"/>
          </a:p>
        </p:txBody>
      </p:sp>
      <p:sp>
        <p:nvSpPr>
          <p:cNvPr id="11" name="udpb"/>
          <p:cNvSpPr txBox="1"/>
          <p:nvPr/>
        </p:nvSpPr>
        <p:spPr>
          <a:xfrm>
            <a:off x="4846320" y="20116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set-up: just address it and sendto()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lost, duplicated or arrive out of order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Datagrams: each message stays in one piece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overhead, no start-up delay - fast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voice/video calls, online games, IoT sensors</a:t>
            </a:r>
            <a:endParaRPr lang="en-US" sz="1200" dirty="0"/>
          </a:p>
        </p:txBody>
      </p:sp>
      <p:sp>
        <p:nvSpPr>
          <p:cNvPr id="12" name="rule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every byte matters use TCP; if speed matters more than completeness use UDP. When in doubt, TCP.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socket API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functions cover everything in this coursework</a:t>
            </a:r>
            <a:endParaRPr lang="en-US" sz="1300" dirty="0"/>
          </a:p>
        </p:txBody>
      </p:sp>
      <p:sp>
        <p:nvSpPr>
          <p:cNvPr id="4" name="f0"/>
          <p:cNvSpPr/>
          <p:nvPr/>
        </p:nvSpPr>
        <p:spPr>
          <a:xfrm>
            <a:off x="457200" y="118872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5" name="fn0"/>
          <p:cNvSpPr txBox="1"/>
          <p:nvPr/>
        </p:nvSpPr>
        <p:spPr>
          <a:xfrm>
            <a:off x="594360" y="1243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socket()</a:t>
            </a:r>
            <a:endParaRPr lang="en-US" sz="1150" dirty="0"/>
          </a:p>
        </p:txBody>
      </p:sp>
      <p:sp>
        <p:nvSpPr>
          <p:cNvPr id="6" name="fd0"/>
          <p:cNvSpPr txBox="1"/>
          <p:nvPr/>
        </p:nvSpPr>
        <p:spPr>
          <a:xfrm>
            <a:off x="59436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socket, get a descriptor</a:t>
            </a:r>
            <a:endParaRPr lang="en-US" sz="1000" dirty="0"/>
          </a:p>
        </p:txBody>
      </p:sp>
      <p:sp>
        <p:nvSpPr>
          <p:cNvPr id="7" name="ft0"/>
          <p:cNvSpPr/>
          <p:nvPr/>
        </p:nvSpPr>
        <p:spPr>
          <a:xfrm>
            <a:off x="3794760" y="135331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6C4AB6"/>
          </a:solidFill>
          <a:ln w="9525">
            <a:solidFill>
              <a:srgbClr val="6C4A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8" name="f1"/>
          <p:cNvSpPr/>
          <p:nvPr/>
        </p:nvSpPr>
        <p:spPr>
          <a:xfrm>
            <a:off x="4709160" y="118872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9" name="fn1"/>
          <p:cNvSpPr txBox="1"/>
          <p:nvPr/>
        </p:nvSpPr>
        <p:spPr>
          <a:xfrm>
            <a:off x="4846320" y="1243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bind()</a:t>
            </a:r>
            <a:endParaRPr lang="en-US" sz="1150" dirty="0"/>
          </a:p>
        </p:txBody>
      </p:sp>
      <p:sp>
        <p:nvSpPr>
          <p:cNvPr id="10" name="fd1"/>
          <p:cNvSpPr txBox="1"/>
          <p:nvPr/>
        </p:nvSpPr>
        <p:spPr>
          <a:xfrm>
            <a:off x="484632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socket to a local IP + port</a:t>
            </a:r>
            <a:endParaRPr lang="en-US" sz="1000" dirty="0"/>
          </a:p>
        </p:txBody>
      </p:sp>
      <p:sp>
        <p:nvSpPr>
          <p:cNvPr id="11" name="ft1"/>
          <p:cNvSpPr/>
          <p:nvPr/>
        </p:nvSpPr>
        <p:spPr>
          <a:xfrm>
            <a:off x="8046720" y="135331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</p:txBody>
      </p:sp>
      <p:sp>
        <p:nvSpPr>
          <p:cNvPr id="12" name="f2"/>
          <p:cNvSpPr/>
          <p:nvPr/>
        </p:nvSpPr>
        <p:spPr>
          <a:xfrm>
            <a:off x="457200" y="182880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3" name="fn2"/>
          <p:cNvSpPr txBox="1"/>
          <p:nvPr/>
        </p:nvSpPr>
        <p:spPr>
          <a:xfrm>
            <a:off x="594360" y="1883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listen()</a:t>
            </a:r>
            <a:endParaRPr lang="en-US" sz="1150" dirty="0"/>
          </a:p>
        </p:txBody>
      </p:sp>
      <p:sp>
        <p:nvSpPr>
          <p:cNvPr id="14" name="fd2"/>
          <p:cNvSpPr txBox="1"/>
          <p:nvPr/>
        </p:nvSpPr>
        <p:spPr>
          <a:xfrm>
            <a:off x="594360" y="21214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TCP: become passive, ready for clients</a:t>
            </a:r>
            <a:endParaRPr lang="en-US" sz="1000" dirty="0"/>
          </a:p>
        </p:txBody>
      </p:sp>
      <p:sp>
        <p:nvSpPr>
          <p:cNvPr id="15" name="ft2"/>
          <p:cNvSpPr/>
          <p:nvPr/>
        </p:nvSpPr>
        <p:spPr>
          <a:xfrm>
            <a:off x="3794760" y="199339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</p:txBody>
      </p:sp>
      <p:sp>
        <p:nvSpPr>
          <p:cNvPr id="16" name="f3"/>
          <p:cNvSpPr/>
          <p:nvPr/>
        </p:nvSpPr>
        <p:spPr>
          <a:xfrm>
            <a:off x="4709160" y="182880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7" name="fn3"/>
          <p:cNvSpPr txBox="1"/>
          <p:nvPr/>
        </p:nvSpPr>
        <p:spPr>
          <a:xfrm>
            <a:off x="4846320" y="1883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accept()</a:t>
            </a:r>
            <a:endParaRPr lang="en-US" sz="1150" dirty="0"/>
          </a:p>
        </p:txBody>
      </p:sp>
      <p:sp>
        <p:nvSpPr>
          <p:cNvPr id="18" name="fd3"/>
          <p:cNvSpPr txBox="1"/>
          <p:nvPr/>
        </p:nvSpPr>
        <p:spPr>
          <a:xfrm>
            <a:off x="4846320" y="21214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TCP: wait for a client, return a NEW socket</a:t>
            </a:r>
            <a:endParaRPr lang="en-US" sz="1000" dirty="0"/>
          </a:p>
        </p:txBody>
      </p:sp>
      <p:sp>
        <p:nvSpPr>
          <p:cNvPr id="19" name="ft3"/>
          <p:cNvSpPr/>
          <p:nvPr/>
        </p:nvSpPr>
        <p:spPr>
          <a:xfrm>
            <a:off x="8046720" y="199339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</p:txBody>
      </p:sp>
      <p:sp>
        <p:nvSpPr>
          <p:cNvPr id="20" name="f4"/>
          <p:cNvSpPr/>
          <p:nvPr/>
        </p:nvSpPr>
        <p:spPr>
          <a:xfrm>
            <a:off x="457200" y="246888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1" name="fn4"/>
          <p:cNvSpPr txBox="1"/>
          <p:nvPr/>
        </p:nvSpPr>
        <p:spPr>
          <a:xfrm>
            <a:off x="594360" y="25237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connect()</a:t>
            </a:r>
            <a:endParaRPr lang="en-US" sz="1150" dirty="0"/>
          </a:p>
        </p:txBody>
      </p:sp>
      <p:sp>
        <p:nvSpPr>
          <p:cNvPr id="22" name="fd4"/>
          <p:cNvSpPr txBox="1"/>
          <p:nvPr/>
        </p:nvSpPr>
        <p:spPr>
          <a:xfrm>
            <a:off x="594360" y="2761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client: open a connection (handshake)</a:t>
            </a:r>
            <a:endParaRPr lang="en-US" sz="1000" dirty="0"/>
          </a:p>
        </p:txBody>
      </p:sp>
      <p:sp>
        <p:nvSpPr>
          <p:cNvPr id="23" name="ft4"/>
          <p:cNvSpPr/>
          <p:nvPr/>
        </p:nvSpPr>
        <p:spPr>
          <a:xfrm>
            <a:off x="3794760" y="263347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9525"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24" name="f5"/>
          <p:cNvSpPr/>
          <p:nvPr/>
        </p:nvSpPr>
        <p:spPr>
          <a:xfrm>
            <a:off x="4709160" y="246888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5" name="fn5"/>
          <p:cNvSpPr txBox="1"/>
          <p:nvPr/>
        </p:nvSpPr>
        <p:spPr>
          <a:xfrm>
            <a:off x="4846320" y="25237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send() / recv()</a:t>
            </a:r>
            <a:endParaRPr lang="en-US" sz="1150" dirty="0"/>
          </a:p>
        </p:txBody>
      </p:sp>
      <p:sp>
        <p:nvSpPr>
          <p:cNvPr id="26" name="fd5"/>
          <p:cNvSpPr txBox="1"/>
          <p:nvPr/>
        </p:nvSpPr>
        <p:spPr>
          <a:xfrm>
            <a:off x="4846320" y="2761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TCP: exchange bytes on a connected socket</a:t>
            </a:r>
            <a:endParaRPr lang="en-US" sz="1000" dirty="0"/>
          </a:p>
        </p:txBody>
      </p:sp>
      <p:sp>
        <p:nvSpPr>
          <p:cNvPr id="27" name="ft5"/>
          <p:cNvSpPr/>
          <p:nvPr/>
        </p:nvSpPr>
        <p:spPr>
          <a:xfrm>
            <a:off x="8046720" y="263347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6C4AB6"/>
          </a:solidFill>
          <a:ln w="9525">
            <a:solidFill>
              <a:srgbClr val="6C4A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28" name="f6"/>
          <p:cNvSpPr/>
          <p:nvPr/>
        </p:nvSpPr>
        <p:spPr>
          <a:xfrm>
            <a:off x="457200" y="310896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9" name="fn6"/>
          <p:cNvSpPr txBox="1"/>
          <p:nvPr/>
        </p:nvSpPr>
        <p:spPr>
          <a:xfrm>
            <a:off x="594360" y="3163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sendto() / recvfrom()</a:t>
            </a:r>
            <a:endParaRPr lang="en-US" sz="1150" dirty="0"/>
          </a:p>
        </p:txBody>
      </p:sp>
      <p:sp>
        <p:nvSpPr>
          <p:cNvPr id="30" name="fd6"/>
          <p:cNvSpPr txBox="1"/>
          <p:nvPr/>
        </p:nvSpPr>
        <p:spPr>
          <a:xfrm>
            <a:off x="594360" y="3401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UDP: exchange datagrams with an address</a:t>
            </a:r>
            <a:endParaRPr lang="en-US" sz="1000" dirty="0"/>
          </a:p>
        </p:txBody>
      </p:sp>
      <p:sp>
        <p:nvSpPr>
          <p:cNvPr id="31" name="ft6"/>
          <p:cNvSpPr/>
          <p:nvPr/>
        </p:nvSpPr>
        <p:spPr>
          <a:xfrm>
            <a:off x="3794760" y="327355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6C4AB6"/>
          </a:solidFill>
          <a:ln w="9525">
            <a:solidFill>
              <a:srgbClr val="6C4A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32" name="f7"/>
          <p:cNvSpPr/>
          <p:nvPr/>
        </p:nvSpPr>
        <p:spPr>
          <a:xfrm>
            <a:off x="4709160" y="310896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33" name="fn7"/>
          <p:cNvSpPr txBox="1"/>
          <p:nvPr/>
        </p:nvSpPr>
        <p:spPr>
          <a:xfrm>
            <a:off x="4846320" y="3163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150" dirty="0"/>
          </a:p>
        </p:txBody>
      </p:sp>
      <p:sp>
        <p:nvSpPr>
          <p:cNvPr id="34" name="fd7"/>
          <p:cNvSpPr txBox="1"/>
          <p:nvPr/>
        </p:nvSpPr>
        <p:spPr>
          <a:xfrm>
            <a:off x="4846320" y="3401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socket</a:t>
            </a:r>
            <a:endParaRPr lang="en-US" sz="1000" dirty="0"/>
          </a:p>
        </p:txBody>
      </p:sp>
      <p:sp>
        <p:nvSpPr>
          <p:cNvPr id="35" name="ft7"/>
          <p:cNvSpPr/>
          <p:nvPr/>
        </p:nvSpPr>
        <p:spPr>
          <a:xfrm>
            <a:off x="8046720" y="327355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6C4AB6"/>
          </a:solidFill>
          <a:ln w="9525">
            <a:solidFill>
              <a:srgbClr val="6C4A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36" name="f8"/>
          <p:cNvSpPr/>
          <p:nvPr/>
        </p:nvSpPr>
        <p:spPr>
          <a:xfrm>
            <a:off x="457200" y="3749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37" name="fn8"/>
          <p:cNvSpPr txBox="1"/>
          <p:nvPr/>
        </p:nvSpPr>
        <p:spPr>
          <a:xfrm>
            <a:off x="594360" y="3803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htons() / htonl()</a:t>
            </a:r>
            <a:endParaRPr lang="en-US" sz="1150" dirty="0"/>
          </a:p>
        </p:txBody>
      </p:sp>
      <p:sp>
        <p:nvSpPr>
          <p:cNvPr id="38" name="fd8"/>
          <p:cNvSpPr txBox="1"/>
          <p:nvPr/>
        </p:nvSpPr>
        <p:spPr>
          <a:xfrm>
            <a:off x="594360" y="40416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numbers to network byte order</a:t>
            </a:r>
            <a:endParaRPr lang="en-US" sz="1000" dirty="0"/>
          </a:p>
        </p:txBody>
      </p:sp>
      <p:sp>
        <p:nvSpPr>
          <p:cNvPr id="39" name="ft8"/>
          <p:cNvSpPr/>
          <p:nvPr/>
        </p:nvSpPr>
        <p:spPr>
          <a:xfrm>
            <a:off x="3794760" y="391363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6C4AB6"/>
          </a:solidFill>
          <a:ln w="9525">
            <a:solidFill>
              <a:srgbClr val="6C4A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40" name="f9"/>
          <p:cNvSpPr/>
          <p:nvPr/>
        </p:nvSpPr>
        <p:spPr>
          <a:xfrm>
            <a:off x="4709160" y="374904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41" name="fn9"/>
          <p:cNvSpPr txBox="1"/>
          <p:nvPr/>
        </p:nvSpPr>
        <p:spPr>
          <a:xfrm>
            <a:off x="4846320" y="3803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inet_pton() / inet_ntop()</a:t>
            </a:r>
            <a:endParaRPr lang="en-US" sz="1150" dirty="0"/>
          </a:p>
        </p:txBody>
      </p:sp>
      <p:sp>
        <p:nvSpPr>
          <p:cNvPr id="42" name="fd9"/>
          <p:cNvSpPr txBox="1"/>
          <p:nvPr/>
        </p:nvSpPr>
        <p:spPr>
          <a:xfrm>
            <a:off x="4846320" y="40416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IP address text &lt;-&gt; binary</a:t>
            </a:r>
            <a:endParaRPr lang="en-US" sz="1000" dirty="0"/>
          </a:p>
        </p:txBody>
      </p:sp>
      <p:sp>
        <p:nvSpPr>
          <p:cNvPr id="43" name="ft9"/>
          <p:cNvSpPr/>
          <p:nvPr/>
        </p:nvSpPr>
        <p:spPr>
          <a:xfrm>
            <a:off x="8046720" y="3913632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6C4AB6"/>
          </a:solidFill>
          <a:ln w="9525">
            <a:solidFill>
              <a:srgbClr val="6C4A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44" name="err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 return -1 on failure and set errno  -&gt;  check every call and use perror() to print the reason.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Describing an address: sockaddr_in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every port goes through htons()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F5F7F9"/>
          </a:solidFill>
          <a:ln w="9525">
            <a:solidFill>
              <a:srgbClr val="C9D3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61872"/>
            <a:ext cx="398678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sockaddr_in server_addr;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memset(&amp;server_addr, 0, sizeof(server_addr));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server_addr.sin_family      = AF_INET;   /* IPv4 */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server_addr.sin_port        = htons(5000);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server_addr.sin_addr.s_addr = htonl(INADDR_ANY);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the cast: functions take a generic pointer */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bind(fd, (struct sockaddr *)&amp;server_addr,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sizeof(server_addr));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memset() zeroes the structure first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AF_INET = IPv4;  INADDR_ANY = any local interface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inet_pton(AF_INET, "127.0.0.1", &amp;addr.sin_addr) turns text into binary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order: port 5000 = 0x1388</a:t>
            </a:r>
            <a:endParaRPr lang="en-US" sz="1400" dirty="0"/>
          </a:p>
        </p:txBody>
      </p:sp>
      <p:sp>
        <p:nvSpPr>
          <p:cNvPr id="8" name="h1"/>
          <p:cNvSpPr txBox="1"/>
          <p:nvPr/>
        </p:nvSpPr>
        <p:spPr>
          <a:xfrm>
            <a:off x="493776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PC stores the low byte first (little-endian):</a:t>
            </a:r>
            <a:endParaRPr lang="en-US" sz="1050" dirty="0"/>
          </a:p>
        </p:txBody>
      </p:sp>
      <p:sp>
        <p:nvSpPr>
          <p:cNvPr id="9" name="hb0"/>
          <p:cNvSpPr/>
          <p:nvPr/>
        </p:nvSpPr>
        <p:spPr>
          <a:xfrm>
            <a:off x="4937760" y="178308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600" dirty="0"/>
          </a:p>
        </p:txBody>
      </p:sp>
      <p:sp>
        <p:nvSpPr>
          <p:cNvPr id="10" name="hb1"/>
          <p:cNvSpPr/>
          <p:nvPr/>
        </p:nvSpPr>
        <p:spPr>
          <a:xfrm>
            <a:off x="5623560" y="178308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600" dirty="0"/>
          </a:p>
        </p:txBody>
      </p:sp>
      <p:sp>
        <p:nvSpPr>
          <p:cNvPr id="11" name="hbl"/>
          <p:cNvSpPr txBox="1"/>
          <p:nvPr/>
        </p:nvSpPr>
        <p:spPr>
          <a:xfrm>
            <a:off x="64008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byte order</a:t>
            </a:r>
            <a:endParaRPr lang="en-US" sz="1050" dirty="0"/>
          </a:p>
        </p:txBody>
      </p:sp>
      <p:sp>
        <p:nvSpPr>
          <p:cNvPr id="12" name="harr"/>
          <p:cNvSpPr/>
          <p:nvPr/>
        </p:nvSpPr>
        <p:spPr>
          <a:xfrm>
            <a:off x="5596128" y="2286000"/>
            <a:ext cx="914" cy="502920"/>
          </a:xfrm>
          <a:prstGeom prst="line">
            <a:avLst/>
          </a:prstGeom>
          <a:noFill/>
          <a:ln w="25400">
            <a:solidFill>
              <a:srgbClr val="123C4E"/>
            </a:solidFill>
            <a:prstDash val="solid"/>
            <a:tailEnd type="triangle"/>
          </a:ln>
        </p:spPr>
      </p:sp>
      <p:sp>
        <p:nvSpPr>
          <p:cNvPr id="13" name="hfn"/>
          <p:cNvSpPr txBox="1"/>
          <p:nvPr/>
        </p:nvSpPr>
        <p:spPr>
          <a:xfrm>
            <a:off x="5760720" y="2359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htons(5000)</a:t>
            </a:r>
            <a:endParaRPr lang="en-US" sz="1300" dirty="0"/>
          </a:p>
        </p:txBody>
      </p:sp>
      <p:sp>
        <p:nvSpPr>
          <p:cNvPr id="14" name="h2"/>
          <p:cNvSpPr txBox="1"/>
          <p:nvPr/>
        </p:nvSpPr>
        <p:spPr>
          <a:xfrm>
            <a:off x="4937760" y="2852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expects the high byte first (big-endian):</a:t>
            </a:r>
            <a:endParaRPr lang="en-US" sz="1050" dirty="0"/>
          </a:p>
        </p:txBody>
      </p:sp>
      <p:sp>
        <p:nvSpPr>
          <p:cNvPr id="15" name="nb0"/>
          <p:cNvSpPr/>
          <p:nvPr/>
        </p:nvSpPr>
        <p:spPr>
          <a:xfrm>
            <a:off x="4937760" y="3127248"/>
            <a:ext cx="640080" cy="411480"/>
          </a:xfrm>
          <a:prstGeom prst="roundRect">
            <a:avLst>
              <a:gd name="adj" fmla="val 8889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600" dirty="0"/>
          </a:p>
        </p:txBody>
      </p:sp>
      <p:sp>
        <p:nvSpPr>
          <p:cNvPr id="16" name="nb1"/>
          <p:cNvSpPr/>
          <p:nvPr/>
        </p:nvSpPr>
        <p:spPr>
          <a:xfrm>
            <a:off x="5623560" y="3127248"/>
            <a:ext cx="640080" cy="411480"/>
          </a:xfrm>
          <a:prstGeom prst="roundRect">
            <a:avLst>
              <a:gd name="adj" fmla="val 8889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600" dirty="0"/>
          </a:p>
        </p:txBody>
      </p:sp>
      <p:sp>
        <p:nvSpPr>
          <p:cNvPr id="17" name="nbl"/>
          <p:cNvSpPr txBox="1"/>
          <p:nvPr/>
        </p:nvSpPr>
        <p:spPr>
          <a:xfrm>
            <a:off x="6400800" y="3172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byte order</a:t>
            </a:r>
            <a:endParaRPr lang="en-US" sz="1050" dirty="0"/>
          </a:p>
        </p:txBody>
      </p:sp>
      <p:sp>
        <p:nvSpPr>
          <p:cNvPr id="18" name="warn"/>
          <p:cNvSpPr/>
          <p:nvPr/>
        </p:nvSpPr>
        <p:spPr>
          <a:xfrm>
            <a:off x="4937760" y="37947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DF1E7"/>
          </a:solidFill>
          <a:ln w="9525">
            <a:solidFill>
              <a:srgbClr val="E07A2F"/>
            </a:solidFill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htons() and the server listens on port 0x8813 = 34835. The client then gets "Connection refused" - a classic beginner bug.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TCP conversation, step by step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calls in order - the server must be ready before the client connects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114300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SERVER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0" y="114300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E07A2F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1554480"/>
            <a:ext cx="914" cy="3154680"/>
          </a:xfrm>
          <a:prstGeom prst="line">
            <a:avLst/>
          </a:prstGeom>
          <a:noFill/>
          <a:ln w="12700">
            <a:solidFill>
              <a:srgbClr val="C9D3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949440" y="1554480"/>
            <a:ext cx="914" cy="3154680"/>
          </a:xfrm>
          <a:prstGeom prst="line">
            <a:avLst/>
          </a:prstGeom>
          <a:noFill/>
          <a:ln w="12700">
            <a:solidFill>
              <a:srgbClr val="C9D3D9"/>
            </a:solidFill>
            <a:prstDash val="dash"/>
          </a:ln>
        </p:spPr>
      </p:sp>
      <p:sp>
        <p:nvSpPr>
          <p:cNvPr id="8" name="s1"/>
          <p:cNvSpPr/>
          <p:nvPr/>
        </p:nvSpPr>
        <p:spPr>
          <a:xfrm>
            <a:off x="1600200" y="1655064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socket()</a:t>
            </a:r>
            <a:endParaRPr lang="en-US" sz="1100" dirty="0"/>
          </a:p>
        </p:txBody>
      </p:sp>
      <p:sp>
        <p:nvSpPr>
          <p:cNvPr id="9" name="s2"/>
          <p:cNvSpPr/>
          <p:nvPr/>
        </p:nvSpPr>
        <p:spPr>
          <a:xfrm>
            <a:off x="1600200" y="205740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bind()</a:t>
            </a:r>
            <a:endParaRPr lang="en-US" sz="1100" dirty="0"/>
          </a:p>
        </p:txBody>
      </p:sp>
      <p:sp>
        <p:nvSpPr>
          <p:cNvPr id="10" name="s3"/>
          <p:cNvSpPr/>
          <p:nvPr/>
        </p:nvSpPr>
        <p:spPr>
          <a:xfrm>
            <a:off x="1600200" y="2459736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listen()</a:t>
            </a:r>
            <a:endParaRPr lang="en-US" sz="1100" dirty="0"/>
          </a:p>
        </p:txBody>
      </p:sp>
      <p:sp>
        <p:nvSpPr>
          <p:cNvPr id="11" name="s4"/>
          <p:cNvSpPr/>
          <p:nvPr/>
        </p:nvSpPr>
        <p:spPr>
          <a:xfrm>
            <a:off x="1600200" y="286207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accept()</a:t>
            </a:r>
            <a:endParaRPr lang="en-US" sz="1100" dirty="0"/>
          </a:p>
        </p:txBody>
      </p:sp>
      <p:sp>
        <p:nvSpPr>
          <p:cNvPr id="12" name="s4w"/>
          <p:cNvSpPr txBox="1"/>
          <p:nvPr/>
        </p:nvSpPr>
        <p:spPr>
          <a:xfrm>
            <a:off x="320040" y="2880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here...</a:t>
            </a:r>
            <a:endParaRPr lang="en-US" sz="1000" dirty="0"/>
          </a:p>
        </p:txBody>
      </p:sp>
      <p:sp>
        <p:nvSpPr>
          <p:cNvPr id="13" name="c1"/>
          <p:cNvSpPr/>
          <p:nvPr/>
        </p:nvSpPr>
        <p:spPr>
          <a:xfrm>
            <a:off x="6355080" y="2459736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socket()</a:t>
            </a:r>
            <a:endParaRPr lang="en-US" sz="1100" dirty="0"/>
          </a:p>
        </p:txBody>
      </p:sp>
      <p:sp>
        <p:nvSpPr>
          <p:cNvPr id="14" name="c2"/>
          <p:cNvSpPr/>
          <p:nvPr/>
        </p:nvSpPr>
        <p:spPr>
          <a:xfrm>
            <a:off x="6355080" y="286207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connect()</a:t>
            </a:r>
            <a:endParaRPr lang="en-US" sz="1100" dirty="0"/>
          </a:p>
        </p:txBody>
      </p:sp>
      <p:sp>
        <p:nvSpPr>
          <p:cNvPr id="15" name="hs"/>
          <p:cNvSpPr/>
          <p:nvPr/>
        </p:nvSpPr>
        <p:spPr>
          <a:xfrm flipH="1">
            <a:off x="2816352" y="3017520"/>
            <a:ext cx="3511296" cy="914"/>
          </a:xfrm>
          <a:prstGeom prst="line">
            <a:avLst/>
          </a:prstGeom>
          <a:noFill/>
          <a:ln w="25400">
            <a:solidFill>
              <a:srgbClr val="6C4AB6"/>
            </a:solidFill>
            <a:prstDash val="solid"/>
            <a:tailEnd type="triangle"/>
          </a:ln>
        </p:spPr>
      </p:sp>
      <p:sp>
        <p:nvSpPr>
          <p:cNvPr id="16" name="hst"/>
          <p:cNvSpPr txBox="1"/>
          <p:nvPr/>
        </p:nvSpPr>
        <p:spPr>
          <a:xfrm>
            <a:off x="2834640" y="2633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connection established (3-way handshake)</a:t>
            </a:r>
            <a:endParaRPr lang="en-US" sz="1000" dirty="0"/>
          </a:p>
        </p:txBody>
      </p:sp>
      <p:sp>
        <p:nvSpPr>
          <p:cNvPr id="17" name="s5"/>
          <p:cNvSpPr/>
          <p:nvPr/>
        </p:nvSpPr>
        <p:spPr>
          <a:xfrm>
            <a:off x="1600200" y="336499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recv()</a:t>
            </a:r>
            <a:endParaRPr lang="en-US" sz="1100" dirty="0"/>
          </a:p>
        </p:txBody>
      </p:sp>
      <p:sp>
        <p:nvSpPr>
          <p:cNvPr id="18" name="c3"/>
          <p:cNvSpPr/>
          <p:nvPr/>
        </p:nvSpPr>
        <p:spPr>
          <a:xfrm>
            <a:off x="6355080" y="336499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send()</a:t>
            </a:r>
            <a:endParaRPr lang="en-US" sz="1100" dirty="0"/>
          </a:p>
        </p:txBody>
      </p:sp>
      <p:sp>
        <p:nvSpPr>
          <p:cNvPr id="19" name="pk1"/>
          <p:cNvSpPr/>
          <p:nvPr/>
        </p:nvSpPr>
        <p:spPr>
          <a:xfrm>
            <a:off x="4956048" y="33741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from client!"</a:t>
            </a:r>
            <a:endParaRPr lang="en-US" sz="900" dirty="0"/>
          </a:p>
        </p:txBody>
      </p:sp>
      <p:sp>
        <p:nvSpPr>
          <p:cNvPr id="20" name="s6"/>
          <p:cNvSpPr/>
          <p:nvPr/>
        </p:nvSpPr>
        <p:spPr>
          <a:xfrm>
            <a:off x="1600200" y="382219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send()</a:t>
            </a:r>
            <a:endParaRPr lang="en-US" sz="1100" dirty="0"/>
          </a:p>
        </p:txBody>
      </p:sp>
      <p:sp>
        <p:nvSpPr>
          <p:cNvPr id="21" name="c4"/>
          <p:cNvSpPr/>
          <p:nvPr/>
        </p:nvSpPr>
        <p:spPr>
          <a:xfrm>
            <a:off x="6355080" y="382219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recv()</a:t>
            </a:r>
            <a:endParaRPr lang="en-US" sz="1100" dirty="0"/>
          </a:p>
        </p:txBody>
      </p:sp>
      <p:sp>
        <p:nvSpPr>
          <p:cNvPr id="22" name="pk2"/>
          <p:cNvSpPr/>
          <p:nvPr/>
        </p:nvSpPr>
        <p:spPr>
          <a:xfrm>
            <a:off x="2816352" y="3831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from server!"</a:t>
            </a:r>
            <a:endParaRPr lang="en-US" sz="900" dirty="0"/>
          </a:p>
        </p:txBody>
      </p:sp>
      <p:sp>
        <p:nvSpPr>
          <p:cNvPr id="23" name="s7"/>
          <p:cNvSpPr/>
          <p:nvPr/>
        </p:nvSpPr>
        <p:spPr>
          <a:xfrm>
            <a:off x="1600200" y="427939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100" dirty="0"/>
          </a:p>
        </p:txBody>
      </p:sp>
      <p:sp>
        <p:nvSpPr>
          <p:cNvPr id="24" name="c5"/>
          <p:cNvSpPr/>
          <p:nvPr/>
        </p:nvSpPr>
        <p:spPr>
          <a:xfrm>
            <a:off x="6355080" y="427939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100" dirty="0"/>
          </a:p>
        </p:txBody>
      </p:sp>
      <p:sp>
        <p:nvSpPr>
          <p:cNvPr id="25" name="clt"/>
          <p:cNvSpPr txBox="1"/>
          <p:nvPr/>
        </p:nvSpPr>
        <p:spPr>
          <a:xfrm>
            <a:off x="301752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release the connection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350"/>
                                        <p:tgtEl>
                                          <p:spTgt spid="1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2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connect(): the three-way handshake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 segments set up the connection before any data flows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E07A2F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118872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1600200"/>
            <a:ext cx="914" cy="2606040"/>
          </a:xfrm>
          <a:prstGeom prst="line">
            <a:avLst/>
          </a:prstGeom>
          <a:noFill/>
          <a:ln w="12700">
            <a:solidFill>
              <a:srgbClr val="C9D3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589520" y="1600200"/>
            <a:ext cx="914" cy="2606040"/>
          </a:xfrm>
          <a:prstGeom prst="line">
            <a:avLst/>
          </a:prstGeom>
          <a:noFill/>
          <a:ln w="12700">
            <a:solidFill>
              <a:srgbClr val="C9D3D9"/>
            </a:solidFill>
            <a:prstDash val="dash"/>
          </a:ln>
        </p:spPr>
      </p:sp>
      <p:sp>
        <p:nvSpPr>
          <p:cNvPr id="8" name="a0"/>
          <p:cNvSpPr/>
          <p:nvPr/>
        </p:nvSpPr>
        <p:spPr>
          <a:xfrm>
            <a:off x="1600200" y="2011680"/>
            <a:ext cx="5943600" cy="137160"/>
          </a:xfrm>
          <a:prstGeom prst="line">
            <a:avLst/>
          </a:prstGeom>
          <a:noFill/>
          <a:ln w="25400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9" name="d0"/>
          <p:cNvSpPr txBox="1"/>
          <p:nvPr/>
        </p:nvSpPr>
        <p:spPr>
          <a:xfrm>
            <a:off x="2194560" y="1627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"May I connect?"  (my sequence number = x)</a:t>
            </a:r>
            <a:endParaRPr lang="en-US" sz="1150" dirty="0"/>
          </a:p>
        </p:txBody>
      </p:sp>
      <p:sp>
        <p:nvSpPr>
          <p:cNvPr id="10" name="p0"/>
          <p:cNvSpPr/>
          <p:nvPr/>
        </p:nvSpPr>
        <p:spPr>
          <a:xfrm>
            <a:off x="1691640" y="19202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</a:t>
            </a:r>
            <a:endParaRPr lang="en-US" sz="900" dirty="0"/>
          </a:p>
        </p:txBody>
      </p:sp>
      <p:sp>
        <p:nvSpPr>
          <p:cNvPr id="11" name="a1"/>
          <p:cNvSpPr/>
          <p:nvPr/>
        </p:nvSpPr>
        <p:spPr>
          <a:xfrm flipH="1">
            <a:off x="1600200" y="2788920"/>
            <a:ext cx="5943600" cy="137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d1"/>
          <p:cNvSpPr txBox="1"/>
          <p:nvPr/>
        </p:nvSpPr>
        <p:spPr>
          <a:xfrm>
            <a:off x="2194560" y="2404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"Yes - and I want to talk too"  (ack = x+1, my seq = y)</a:t>
            </a:r>
            <a:endParaRPr lang="en-US" sz="1150" dirty="0"/>
          </a:p>
        </p:txBody>
      </p:sp>
      <p:sp>
        <p:nvSpPr>
          <p:cNvPr id="13" name="p1"/>
          <p:cNvSpPr/>
          <p:nvPr/>
        </p:nvSpPr>
        <p:spPr>
          <a:xfrm>
            <a:off x="6629400" y="26974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SYN-ACK</a:t>
            </a:r>
            <a:endParaRPr lang="en-US" sz="900" dirty="0"/>
          </a:p>
        </p:txBody>
      </p:sp>
      <p:sp>
        <p:nvSpPr>
          <p:cNvPr id="14" name="a2"/>
          <p:cNvSpPr/>
          <p:nvPr/>
        </p:nvSpPr>
        <p:spPr>
          <a:xfrm>
            <a:off x="1600200" y="3566160"/>
            <a:ext cx="5943600" cy="137160"/>
          </a:xfrm>
          <a:prstGeom prst="line">
            <a:avLst/>
          </a:prstGeom>
          <a:noFill/>
          <a:ln w="25400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15" name="d2"/>
          <p:cNvSpPr txBox="1"/>
          <p:nvPr/>
        </p:nvSpPr>
        <p:spPr>
          <a:xfrm>
            <a:off x="2194560" y="3182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"Got it"  (ack = y+1)</a:t>
            </a:r>
            <a:endParaRPr lang="en-US" sz="1150" dirty="0"/>
          </a:p>
        </p:txBody>
      </p:sp>
      <p:sp>
        <p:nvSpPr>
          <p:cNvPr id="16" name="p2"/>
          <p:cNvSpPr/>
          <p:nvPr/>
        </p:nvSpPr>
        <p:spPr>
          <a:xfrm>
            <a:off x="1691640" y="34747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</a:t>
            </a:r>
            <a:endParaRPr lang="en-US" sz="900" dirty="0"/>
          </a:p>
        </p:txBody>
      </p:sp>
      <p:sp>
        <p:nvSpPr>
          <p:cNvPr id="17" name="done"/>
          <p:cNvSpPr/>
          <p:nvPr/>
        </p:nvSpPr>
        <p:spPr>
          <a:xfrm>
            <a:off x="2377440" y="406908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E8F4F1"/>
          </a:solidFill>
          <a:ln w="9525">
            <a:solidFill>
              <a:srgbClr val="2E8B57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established  -&gt;  connect() and accept() both return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programmer never sees these segments - the operating system does it all inside connect() and accept().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000 0.02667 E" pathEditMode="relative" rAng="0" ptsTypes="AA">
                                      <p:cBhvr>
                                        <p:cTn id="12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4000 0.02667 E" pathEditMode="relative" rAng="0" ptsTypes="AA">
                                      <p:cBhvr>
                                        <p:cTn id="22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000 0.02667 E" pathEditMode="relative" rAng="0" ptsTypes="AA">
                                      <p:cBhvr>
                                        <p:cTn id="32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accept() gives you a second socket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listening socket keeps listening; the new one talks to a single client</a:t>
            </a:r>
            <a:endParaRPr lang="en-US" sz="1300" dirty="0"/>
          </a:p>
        </p:txBody>
      </p:sp>
      <p:sp>
        <p:nvSpPr>
          <p:cNvPr id="4" name="lsn"/>
          <p:cNvSpPr/>
          <p:nvPr/>
        </p:nvSpPr>
        <p:spPr>
          <a:xfrm>
            <a:off x="54864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DDEEF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lsnt"/>
          <p:cNvSpPr txBox="1"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server_fd</a:t>
            </a:r>
            <a:endParaRPr lang="en-US" sz="1500" dirty="0"/>
          </a:p>
        </p:txBody>
      </p:sp>
      <p:sp>
        <p:nvSpPr>
          <p:cNvPr id="6" name="lsnd"/>
          <p:cNvSpPr txBox="1"/>
          <p:nvPr/>
        </p:nvSpPr>
        <p:spPr>
          <a:xfrm>
            <a:off x="54864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socket - port 5000</a:t>
            </a:r>
            <a:endParaRPr lang="en-US" sz="1100" dirty="0"/>
          </a:p>
        </p:txBody>
      </p:sp>
      <p:sp>
        <p:nvSpPr>
          <p:cNvPr id="7" name="cli_a"/>
          <p:cNvSpPr/>
          <p:nvPr/>
        </p:nvSpPr>
        <p:spPr>
          <a:xfrm>
            <a:off x="7498080" y="1481328"/>
            <a:ext cx="1005840" cy="506943"/>
          </a:xfrm>
          <a:prstGeom prst="roundRect">
            <a:avLst>
              <a:gd name="adj" fmla="val 9019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8" name="cli_b"/>
          <p:cNvSpPr/>
          <p:nvPr/>
        </p:nvSpPr>
        <p:spPr>
          <a:xfrm>
            <a:off x="7578547" y="1539264"/>
            <a:ext cx="844906" cy="39107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cli_c"/>
          <p:cNvSpPr/>
          <p:nvPr/>
        </p:nvSpPr>
        <p:spPr>
          <a:xfrm>
            <a:off x="7920533" y="1988271"/>
            <a:ext cx="160934" cy="108631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0" name="cli_d"/>
          <p:cNvSpPr/>
          <p:nvPr/>
        </p:nvSpPr>
        <p:spPr>
          <a:xfrm>
            <a:off x="7749540" y="2096902"/>
            <a:ext cx="502920" cy="50694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1" name="cli_l"/>
          <p:cNvSpPr txBox="1"/>
          <p:nvPr/>
        </p:nvSpPr>
        <p:spPr>
          <a:xfrm>
            <a:off x="7223760" y="223296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12" name="conn"/>
          <p:cNvSpPr/>
          <p:nvPr/>
        </p:nvSpPr>
        <p:spPr>
          <a:xfrm flipH="1">
            <a:off x="3017520" y="1874520"/>
            <a:ext cx="4434840" cy="914"/>
          </a:xfrm>
          <a:prstGeom prst="line">
            <a:avLst/>
          </a:prstGeom>
          <a:noFill/>
          <a:ln w="25400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13" name="connt"/>
          <p:cNvSpPr txBox="1"/>
          <p:nvPr/>
        </p:nvSpPr>
        <p:spPr>
          <a:xfrm>
            <a:off x="320040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connect()</a:t>
            </a:r>
            <a:endParaRPr lang="en-US" sz="1200" dirty="0"/>
          </a:p>
        </p:txBody>
      </p:sp>
      <p:sp>
        <p:nvSpPr>
          <p:cNvPr id="14" name="acc"/>
          <p:cNvSpPr/>
          <p:nvPr/>
        </p:nvSpPr>
        <p:spPr>
          <a:xfrm>
            <a:off x="1737360" y="2423160"/>
            <a:ext cx="914" cy="594360"/>
          </a:xfrm>
          <a:prstGeom prst="line">
            <a:avLst/>
          </a:prstGeom>
          <a:noFill/>
          <a:ln w="25400">
            <a:solidFill>
              <a:srgbClr val="123C4E"/>
            </a:solidFill>
            <a:prstDash val="solid"/>
            <a:tailEnd type="triangle"/>
          </a:ln>
        </p:spPr>
      </p:sp>
      <p:sp>
        <p:nvSpPr>
          <p:cNvPr id="15" name="acct"/>
          <p:cNvSpPr txBox="1"/>
          <p:nvPr/>
        </p:nvSpPr>
        <p:spPr>
          <a:xfrm>
            <a:off x="187452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accept()</a:t>
            </a:r>
            <a:endParaRPr lang="en-US" sz="1300" dirty="0"/>
          </a:p>
        </p:txBody>
      </p:sp>
      <p:sp>
        <p:nvSpPr>
          <p:cNvPr id="16" name="cfd"/>
          <p:cNvSpPr/>
          <p:nvPr/>
        </p:nvSpPr>
        <p:spPr>
          <a:xfrm>
            <a:off x="548640" y="30632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BE8D8"/>
          </a:solidFill>
          <a:ln w="9525">
            <a:solidFill>
              <a:srgbClr val="E07A2F"/>
            </a:solidFill>
            <a:prstDash val="solid"/>
          </a:ln>
        </p:spPr>
      </p:sp>
      <p:sp>
        <p:nvSpPr>
          <p:cNvPr id="17" name="cfdt"/>
          <p:cNvSpPr txBox="1"/>
          <p:nvPr/>
        </p:nvSpPr>
        <p:spPr>
          <a:xfrm>
            <a:off x="54864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client_fd</a:t>
            </a:r>
            <a:endParaRPr lang="en-US" sz="1500" dirty="0"/>
          </a:p>
        </p:txBody>
      </p:sp>
      <p:sp>
        <p:nvSpPr>
          <p:cNvPr id="18" name="cfdd"/>
          <p:cNvSpPr txBox="1"/>
          <p:nvPr/>
        </p:nvSpPr>
        <p:spPr>
          <a:xfrm>
            <a:off x="54864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socket - one client</a:t>
            </a:r>
            <a:endParaRPr lang="en-US" sz="1100" dirty="0"/>
          </a:p>
        </p:txBody>
      </p:sp>
      <p:sp>
        <p:nvSpPr>
          <p:cNvPr id="19" name="dat"/>
          <p:cNvSpPr/>
          <p:nvPr/>
        </p:nvSpPr>
        <p:spPr>
          <a:xfrm>
            <a:off x="3017520" y="3520440"/>
            <a:ext cx="4434840" cy="914"/>
          </a:xfrm>
          <a:prstGeom prst="line">
            <a:avLst/>
          </a:prstGeom>
          <a:noFill/>
          <a:ln w="25400">
            <a:solidFill>
              <a:srgbClr val="E07A2F"/>
            </a:solidFill>
            <a:prstDash val="solid"/>
            <a:headEnd type="triangle"/>
            <a:tailEnd type="triangle"/>
          </a:ln>
        </p:spPr>
      </p:sp>
      <p:sp>
        <p:nvSpPr>
          <p:cNvPr id="20" name="datt"/>
          <p:cNvSpPr txBox="1"/>
          <p:nvPr/>
        </p:nvSpPr>
        <p:spPr>
          <a:xfrm>
            <a:off x="320040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send() / recv() use client_fd</a:t>
            </a:r>
            <a:endParaRPr lang="en-US" sz="1200" dirty="0"/>
          </a:p>
        </p:txBody>
      </p:sp>
      <p:sp>
        <p:nvSpPr>
          <p:cNvPr id="21" name="notes"/>
          <p:cNvSpPr txBox="1"/>
          <p:nvPr/>
        </p:nvSpPr>
        <p:spPr>
          <a:xfrm>
            <a:off x="3291840" y="40233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server_fd stays open and can accept() the next client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close(client_fd) when you finish with this client; close(server_fd) when the server shuts down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3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TCP server - part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tcp_server.c: create, bind, listen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611880"/>
          </a:xfrm>
          <a:prstGeom prst="roundRect">
            <a:avLst>
              <a:gd name="adj" fmla="val 1519"/>
            </a:avLst>
          </a:prstGeom>
          <a:solidFill>
            <a:srgbClr val="F5F7F9"/>
          </a:solidFill>
          <a:ln w="9525">
            <a:solidFill>
              <a:srgbClr val="C9D3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70432"/>
            <a:ext cx="4809744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server_fd, client_fd;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sockaddr_in server_addr, client_addr;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socklen_t client_len = sizeof(client_addr);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buffer[BUFFER_SIZE];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1. create the listening socket */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server_fd = socket(AF_INET, SOCK_STREAM, 0);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(server_fd &lt; 0) { perror("socket"); return 1; }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2. describe our own address */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memset(&amp;server_addr, 0, sizeof(server_addr));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server_addr.sin_family      = AF_INET;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server_addr.sin_addr.s_addr = htonl(INADDR_ANY);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server_addr.sin_port        = htons(PORT);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3. bind and 4. listen */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(bind(server_fd, (struct sockaddr *)&amp;server_addr,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sizeof(server_addr)) &lt; 0) {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perror("bind"); return 1;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(listen(server_fd, 5) &lt; 0) { perror("listen"); return 1; }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printf("Server listening on port %d...\n", PORT);</a:t>
            </a:r>
            <a:endParaRPr lang="en-US" sz="850" dirty="0"/>
          </a:p>
        </p:txBody>
      </p:sp>
      <p:sp>
        <p:nvSpPr>
          <p:cNvPr id="6" name="hl0"/>
          <p:cNvSpPr/>
          <p:nvPr/>
        </p:nvSpPr>
        <p:spPr>
          <a:xfrm>
            <a:off x="512064" y="1923288"/>
            <a:ext cx="4919472" cy="475488"/>
          </a:xfrm>
          <a:prstGeom prst="roundRect">
            <a:avLst>
              <a:gd name="adj" fmla="val 5769"/>
            </a:avLst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nb0"/>
          <p:cNvSpPr/>
          <p:nvPr/>
        </p:nvSpPr>
        <p:spPr>
          <a:xfrm>
            <a:off x="5669280" y="1143000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8" name="nt0"/>
          <p:cNvSpPr txBox="1"/>
          <p:nvPr/>
        </p:nvSpPr>
        <p:spPr>
          <a:xfrm>
            <a:off x="5779008" y="1216152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socket()</a:t>
            </a:r>
            <a:endParaRPr lang="en-US" sz="1250" dirty="0"/>
          </a:p>
        </p:txBody>
      </p:sp>
      <p:sp>
        <p:nvSpPr>
          <p:cNvPr id="9" name="nd0"/>
          <p:cNvSpPr txBox="1"/>
          <p:nvPr/>
        </p:nvSpPr>
        <p:spPr>
          <a:xfrm>
            <a:off x="5779008" y="150876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AF_INET = IPv4, SOCK_STREAM = TCP. Returns the descriptor; -1 means failure.</a:t>
            </a:r>
            <a:endParaRPr lang="en-US" sz="1000" dirty="0"/>
          </a:p>
        </p:txBody>
      </p:sp>
      <p:sp>
        <p:nvSpPr>
          <p:cNvPr id="10" name="hl1"/>
          <p:cNvSpPr/>
          <p:nvPr/>
        </p:nvSpPr>
        <p:spPr>
          <a:xfrm>
            <a:off x="512064" y="2532888"/>
            <a:ext cx="4919472" cy="780288"/>
          </a:xfrm>
          <a:prstGeom prst="roundRect">
            <a:avLst>
              <a:gd name="adj" fmla="val 3516"/>
            </a:avLst>
          </a:prstGeom>
          <a:solidFill>
            <a:srgbClr val="E07A2F">
              <a:alpha val="22000"/>
            </a:srgbClr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1" name="nb1"/>
          <p:cNvSpPr/>
          <p:nvPr/>
        </p:nvSpPr>
        <p:spPr>
          <a:xfrm>
            <a:off x="5669280" y="2350008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2" name="nt1"/>
          <p:cNvSpPr txBox="1"/>
          <p:nvPr/>
        </p:nvSpPr>
        <p:spPr>
          <a:xfrm>
            <a:off x="5779008" y="242316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Address</a:t>
            </a:r>
            <a:endParaRPr lang="en-US" sz="1250" dirty="0"/>
          </a:p>
        </p:txBody>
      </p:sp>
      <p:sp>
        <p:nvSpPr>
          <p:cNvPr id="13" name="nd1"/>
          <p:cNvSpPr txBox="1"/>
          <p:nvPr/>
        </p:nvSpPr>
        <p:spPr>
          <a:xfrm>
            <a:off x="5779008" y="2715768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the struct, choose IPv4, any local interface, and port 5000 in network byte order.</a:t>
            </a:r>
            <a:endParaRPr lang="en-US" sz="1000" dirty="0"/>
          </a:p>
        </p:txBody>
      </p:sp>
      <p:sp>
        <p:nvSpPr>
          <p:cNvPr id="14" name="hl2"/>
          <p:cNvSpPr/>
          <p:nvPr/>
        </p:nvSpPr>
        <p:spPr>
          <a:xfrm>
            <a:off x="512064" y="3447288"/>
            <a:ext cx="4919472" cy="1085088"/>
          </a:xfrm>
          <a:prstGeom prst="roundRect">
            <a:avLst>
              <a:gd name="adj" fmla="val 2528"/>
            </a:avLst>
          </a:prstGeom>
          <a:solidFill>
            <a:srgbClr val="6C4AB6">
              <a:alpha val="22000"/>
            </a:srgbClr>
          </a:solidFill>
          <a:ln w="12700">
            <a:solidFill>
              <a:srgbClr val="6C4AB6"/>
            </a:solidFill>
            <a:prstDash val="solid"/>
          </a:ln>
        </p:spPr>
      </p:sp>
      <p:sp>
        <p:nvSpPr>
          <p:cNvPr id="15" name="nb2"/>
          <p:cNvSpPr/>
          <p:nvPr/>
        </p:nvSpPr>
        <p:spPr>
          <a:xfrm>
            <a:off x="5669280" y="3557016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6" name="nt2"/>
          <p:cNvSpPr txBox="1"/>
          <p:nvPr/>
        </p:nvSpPr>
        <p:spPr>
          <a:xfrm>
            <a:off x="5779008" y="363016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+ 4  bind() and listen()</a:t>
            </a:r>
            <a:endParaRPr lang="en-US" sz="1250" dirty="0"/>
          </a:p>
        </p:txBody>
      </p:sp>
      <p:sp>
        <p:nvSpPr>
          <p:cNvPr id="17" name="nd2"/>
          <p:cNvSpPr txBox="1"/>
          <p:nvPr/>
        </p:nvSpPr>
        <p:spPr>
          <a:xfrm>
            <a:off x="5779008" y="3922776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bind() claims port 5000; listen() makes the socket passive with a queue of 5 waiting connections.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TCP server - part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tcp_server.c: accept, receive, reply, close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611880"/>
          </a:xfrm>
          <a:prstGeom prst="roundRect">
            <a:avLst>
              <a:gd name="adj" fmla="val 1519"/>
            </a:avLst>
          </a:prstGeom>
          <a:solidFill>
            <a:srgbClr val="F5F7F9"/>
          </a:solidFill>
          <a:ln w="9525">
            <a:solidFill>
              <a:srgbClr val="C9D3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70432"/>
            <a:ext cx="4809744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5. wait for a client (blocks here) */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client_fd = accept(server_fd,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(struct sockaddr *)&amp;client_addr,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&amp;client_len);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(client_fd &lt; 0) { perror("accept"); return 1; }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printf("Client connected.\n");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6. receive the client's message */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ssize_t n = recv(client_fd, buffer, BUFFER_SIZE - 1, 0);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 &lt; 0)       { perror("recv"); }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(n == 0) { printf("Client closed.\n"); }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{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buffer[n] = '\0';               /* make it a C string */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printf("Client says: %s\n", buffer);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7. send a reply */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*reply = "Hello from the server!";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send(client_fd, reply, strlen(reply), 0);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8. clean up - BOTH sockets */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close(client_fd);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close(server_fd);</a:t>
            </a:r>
            <a:endParaRPr lang="en-US" sz="850" dirty="0"/>
          </a:p>
        </p:txBody>
      </p:sp>
      <p:sp>
        <p:nvSpPr>
          <p:cNvPr id="6" name="hl0"/>
          <p:cNvSpPr/>
          <p:nvPr/>
        </p:nvSpPr>
        <p:spPr>
          <a:xfrm>
            <a:off x="512064" y="1161288"/>
            <a:ext cx="4919472" cy="932688"/>
          </a:xfrm>
          <a:prstGeom prst="roundRect">
            <a:avLst>
              <a:gd name="adj" fmla="val 2941"/>
            </a:avLst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nb0"/>
          <p:cNvSpPr/>
          <p:nvPr/>
        </p:nvSpPr>
        <p:spPr>
          <a:xfrm>
            <a:off x="5669280" y="1143000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8" name="nt0"/>
          <p:cNvSpPr txBox="1"/>
          <p:nvPr/>
        </p:nvSpPr>
        <p:spPr>
          <a:xfrm>
            <a:off x="5779008" y="1216152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accept()</a:t>
            </a:r>
            <a:endParaRPr lang="en-US" sz="1250" dirty="0"/>
          </a:p>
        </p:txBody>
      </p:sp>
      <p:sp>
        <p:nvSpPr>
          <p:cNvPr id="9" name="nd0"/>
          <p:cNvSpPr txBox="1"/>
          <p:nvPr/>
        </p:nvSpPr>
        <p:spPr>
          <a:xfrm>
            <a:off x="5779008" y="150876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until a client completes the handshake, then returns a NEW descriptor for that client.</a:t>
            </a:r>
            <a:endParaRPr lang="en-US" sz="1000" dirty="0"/>
          </a:p>
        </p:txBody>
      </p:sp>
      <p:sp>
        <p:nvSpPr>
          <p:cNvPr id="10" name="hl1"/>
          <p:cNvSpPr/>
          <p:nvPr/>
        </p:nvSpPr>
        <p:spPr>
          <a:xfrm>
            <a:off x="512064" y="2228088"/>
            <a:ext cx="4919472" cy="1085088"/>
          </a:xfrm>
          <a:prstGeom prst="roundRect">
            <a:avLst>
              <a:gd name="adj" fmla="val 2528"/>
            </a:avLst>
          </a:prstGeom>
          <a:solidFill>
            <a:srgbClr val="E07A2F">
              <a:alpha val="22000"/>
            </a:srgbClr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1" name="nb1"/>
          <p:cNvSpPr/>
          <p:nvPr/>
        </p:nvSpPr>
        <p:spPr>
          <a:xfrm>
            <a:off x="5669280" y="2350008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2" name="nt1"/>
          <p:cNvSpPr txBox="1"/>
          <p:nvPr/>
        </p:nvSpPr>
        <p:spPr>
          <a:xfrm>
            <a:off x="5779008" y="242316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recv()</a:t>
            </a:r>
            <a:endParaRPr lang="en-US" sz="1250" dirty="0"/>
          </a:p>
        </p:txBody>
      </p:sp>
      <p:sp>
        <p:nvSpPr>
          <p:cNvPr id="13" name="nd1"/>
          <p:cNvSpPr txBox="1"/>
          <p:nvPr/>
        </p:nvSpPr>
        <p:spPr>
          <a:xfrm>
            <a:off x="5779008" y="2715768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cases: n &lt; 0 error, n == 0 client closed, n &gt; 0 data. Add '\0' yourself - the network does not send it.</a:t>
            </a:r>
            <a:endParaRPr lang="en-US" sz="1000" dirty="0"/>
          </a:p>
        </p:txBody>
      </p:sp>
      <p:sp>
        <p:nvSpPr>
          <p:cNvPr id="14" name="hl2"/>
          <p:cNvSpPr/>
          <p:nvPr/>
        </p:nvSpPr>
        <p:spPr>
          <a:xfrm>
            <a:off x="512064" y="3447288"/>
            <a:ext cx="4919472" cy="1085088"/>
          </a:xfrm>
          <a:prstGeom prst="roundRect">
            <a:avLst>
              <a:gd name="adj" fmla="val 2528"/>
            </a:avLst>
          </a:prstGeom>
          <a:solidFill>
            <a:srgbClr val="6C4AB6">
              <a:alpha val="22000"/>
            </a:srgbClr>
          </a:solidFill>
          <a:ln w="12700">
            <a:solidFill>
              <a:srgbClr val="6C4AB6"/>
            </a:solidFill>
            <a:prstDash val="solid"/>
          </a:ln>
        </p:spPr>
      </p:sp>
      <p:sp>
        <p:nvSpPr>
          <p:cNvPr id="15" name="nb2"/>
          <p:cNvSpPr/>
          <p:nvPr/>
        </p:nvSpPr>
        <p:spPr>
          <a:xfrm>
            <a:off x="5669280" y="3557016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6" name="nt2"/>
          <p:cNvSpPr txBox="1"/>
          <p:nvPr/>
        </p:nvSpPr>
        <p:spPr>
          <a:xfrm>
            <a:off x="5779008" y="363016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+ 8  send() and close()</a:t>
            </a:r>
            <a:endParaRPr lang="en-US" sz="1250" dirty="0"/>
          </a:p>
        </p:txBody>
      </p:sp>
      <p:sp>
        <p:nvSpPr>
          <p:cNvPr id="17" name="nd2"/>
          <p:cNvSpPr txBox="1"/>
          <p:nvPr/>
        </p:nvSpPr>
        <p:spPr>
          <a:xfrm>
            <a:off x="5779008" y="3922776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strlen() bytes, no terminator. Then close both the connected and the listening socket.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TCP client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tcp_client.c: shorter - no bind(), listen() or accept()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611880"/>
          </a:xfrm>
          <a:prstGeom prst="roundRect">
            <a:avLst>
              <a:gd name="adj" fmla="val 1519"/>
            </a:avLst>
          </a:prstGeom>
          <a:solidFill>
            <a:srgbClr val="F5F7F9"/>
          </a:solidFill>
          <a:ln w="9525">
            <a:solidFill>
              <a:srgbClr val="C9D3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70432"/>
            <a:ext cx="4809744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sockfd = socket(AF_INET, SOCK_STREAM, 0);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(sockfd &lt; 0) { perror("socket"); return 1; }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the SERVER's address, not our own */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sockaddr_in server_addr;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memset(&amp;server_addr, 0, sizeof(server_addr));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server_addr.sin_family = AF_INET;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server_addr.sin_port   = htons(5000);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inet_pton(AF_INET, "127.0.0.1", &amp;server_addr.sin_addr);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connect - the handshake happens here */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(connect(sockfd, (struct sockaddr *)&amp;server_addr,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sizeof(server_addr)) &lt; 0) {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perror("connect"); return 1;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send(sockfd, "Hello from the client!", 22, 0);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ssize_t n = recv(sockfd, buffer, BUFFER_SIZE - 1, 0);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 &gt; 0) { buffer[n] = '\0';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printf("Server says: %s\n", buffer); }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close(sockfd);</a:t>
            </a:r>
            <a:endParaRPr lang="en-US" sz="850" dirty="0"/>
          </a:p>
        </p:txBody>
      </p:sp>
      <p:sp>
        <p:nvSpPr>
          <p:cNvPr id="6" name="hl0"/>
          <p:cNvSpPr/>
          <p:nvPr/>
        </p:nvSpPr>
        <p:spPr>
          <a:xfrm>
            <a:off x="512064" y="1618488"/>
            <a:ext cx="4919472" cy="932688"/>
          </a:xfrm>
          <a:prstGeom prst="roundRect">
            <a:avLst>
              <a:gd name="adj" fmla="val 2941"/>
            </a:avLst>
          </a:prstGeom>
          <a:solidFill>
            <a:srgbClr val="E07A2F">
              <a:alpha val="22000"/>
            </a:srgbClr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7" name="nb0"/>
          <p:cNvSpPr/>
          <p:nvPr/>
        </p:nvSpPr>
        <p:spPr>
          <a:xfrm>
            <a:off x="5669280" y="1143000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8" name="nt0"/>
          <p:cNvSpPr txBox="1"/>
          <p:nvPr/>
        </p:nvSpPr>
        <p:spPr>
          <a:xfrm>
            <a:off x="5779008" y="1216152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server?</a:t>
            </a:r>
            <a:endParaRPr lang="en-US" sz="1250" dirty="0"/>
          </a:p>
        </p:txBody>
      </p:sp>
      <p:sp>
        <p:nvSpPr>
          <p:cNvPr id="9" name="nd0"/>
          <p:cNvSpPr txBox="1"/>
          <p:nvPr/>
        </p:nvSpPr>
        <p:spPr>
          <a:xfrm>
            <a:off x="5779008" y="150876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 = this computer. Change it to the server's real IP to talk across a network.</a:t>
            </a:r>
            <a:endParaRPr lang="en-US" sz="1000" dirty="0"/>
          </a:p>
        </p:txBody>
      </p:sp>
      <p:sp>
        <p:nvSpPr>
          <p:cNvPr id="10" name="hl1"/>
          <p:cNvSpPr/>
          <p:nvPr/>
        </p:nvSpPr>
        <p:spPr>
          <a:xfrm>
            <a:off x="512064" y="2685288"/>
            <a:ext cx="4919472" cy="780288"/>
          </a:xfrm>
          <a:prstGeom prst="roundRect">
            <a:avLst>
              <a:gd name="adj" fmla="val 3516"/>
            </a:avLst>
          </a:prstGeom>
          <a:solidFill>
            <a:srgbClr val="6C4AB6">
              <a:alpha val="22000"/>
            </a:srgbClr>
          </a:solidFill>
          <a:ln w="12700">
            <a:solidFill>
              <a:srgbClr val="6C4AB6"/>
            </a:solidFill>
            <a:prstDash val="solid"/>
          </a:ln>
        </p:spPr>
      </p:sp>
      <p:sp>
        <p:nvSpPr>
          <p:cNvPr id="11" name="nb1"/>
          <p:cNvSpPr/>
          <p:nvPr/>
        </p:nvSpPr>
        <p:spPr>
          <a:xfrm>
            <a:off x="5669280" y="2350008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2" name="nt1"/>
          <p:cNvSpPr txBox="1"/>
          <p:nvPr/>
        </p:nvSpPr>
        <p:spPr>
          <a:xfrm>
            <a:off x="5779008" y="242316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connect()</a:t>
            </a:r>
            <a:endParaRPr lang="en-US" sz="1250" dirty="0"/>
          </a:p>
        </p:txBody>
      </p:sp>
      <p:sp>
        <p:nvSpPr>
          <p:cNvPr id="13" name="nd1"/>
          <p:cNvSpPr txBox="1"/>
          <p:nvPr/>
        </p:nvSpPr>
        <p:spPr>
          <a:xfrm>
            <a:off x="5779008" y="2715768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with "Connection refused" if nothing is listening - so always start the server first.</a:t>
            </a:r>
            <a:endParaRPr lang="en-US" sz="1000" dirty="0"/>
          </a:p>
        </p:txBody>
      </p:sp>
      <p:sp>
        <p:nvSpPr>
          <p:cNvPr id="14" name="hl2"/>
          <p:cNvSpPr/>
          <p:nvPr/>
        </p:nvSpPr>
        <p:spPr>
          <a:xfrm>
            <a:off x="512064" y="3599688"/>
            <a:ext cx="4919472" cy="627888"/>
          </a:xfrm>
          <a:prstGeom prst="roundRect">
            <a:avLst>
              <a:gd name="adj" fmla="val 4369"/>
            </a:avLst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nb2"/>
          <p:cNvSpPr/>
          <p:nvPr/>
        </p:nvSpPr>
        <p:spPr>
          <a:xfrm>
            <a:off x="5669280" y="3557016"/>
            <a:ext cx="3017520" cy="1115568"/>
          </a:xfrm>
          <a:prstGeom prst="roundRect">
            <a:avLst>
              <a:gd name="adj" fmla="val 65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6" name="nt2"/>
          <p:cNvSpPr txBox="1"/>
          <p:nvPr/>
        </p:nvSpPr>
        <p:spPr>
          <a:xfrm>
            <a:off x="5779008" y="363016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the server</a:t>
            </a:r>
            <a:endParaRPr lang="en-US" sz="1250" dirty="0"/>
          </a:p>
        </p:txBody>
      </p:sp>
      <p:sp>
        <p:nvSpPr>
          <p:cNvPr id="17" name="nd2"/>
          <p:cNvSpPr txBox="1"/>
          <p:nvPr/>
        </p:nvSpPr>
        <p:spPr>
          <a:xfrm>
            <a:off x="5779008" y="3922776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connected, both sides just use send() and recv(); client/server no longer matters.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programs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terminals on one computer - the server first, then the client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tcp_server.c -o tcp_server     gcc -Wall tcp_client.c -o tcp_client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0F2A38"/>
          </a:solidFill>
          <a:ln w="9525">
            <a:solidFill>
              <a:srgbClr val="0F2A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1 - server</a:t>
            </a:r>
            <a:endParaRPr lang="en-US" sz="1000" dirty="0"/>
          </a:p>
        </p:txBody>
      </p:sp>
      <p:sp>
        <p:nvSpPr>
          <p:cNvPr id="7" name="t0"/>
          <p:cNvSpPr txBox="1"/>
          <p:nvPr/>
        </p:nvSpPr>
        <p:spPr>
          <a:xfrm>
            <a:off x="594360" y="19202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F7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./tcp_server</a:t>
            </a:r>
            <a:endParaRPr lang="en-US" sz="1100" dirty="0"/>
          </a:p>
        </p:txBody>
      </p:sp>
      <p:sp>
        <p:nvSpPr>
          <p:cNvPr id="8" name="t1"/>
          <p:cNvSpPr txBox="1"/>
          <p:nvPr/>
        </p:nvSpPr>
        <p:spPr>
          <a:xfrm>
            <a:off x="594360" y="22494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D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listening on port 5000...</a:t>
            </a:r>
            <a:endParaRPr lang="en-US" sz="1100" dirty="0"/>
          </a:p>
        </p:txBody>
      </p:sp>
      <p:sp>
        <p:nvSpPr>
          <p:cNvPr id="9" name="t2"/>
          <p:cNvSpPr txBox="1"/>
          <p:nvPr/>
        </p:nvSpPr>
        <p:spPr>
          <a:xfrm>
            <a:off x="594360" y="25786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D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127.0.0.1:41234 connected.</a:t>
            </a:r>
            <a:endParaRPr lang="en-US" sz="1100" dirty="0"/>
          </a:p>
        </p:txBody>
      </p:sp>
      <p:sp>
        <p:nvSpPr>
          <p:cNvPr id="10" name="t3"/>
          <p:cNvSpPr txBox="1"/>
          <p:nvPr/>
        </p:nvSpPr>
        <p:spPr>
          <a:xfrm>
            <a:off x="594360" y="29077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B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says: Hello from the client!</a:t>
            </a:r>
            <a:endParaRPr lang="en-US" sz="1100" dirty="0"/>
          </a:p>
        </p:txBody>
      </p:sp>
      <p:sp>
        <p:nvSpPr>
          <p:cNvPr id="11" name="t4"/>
          <p:cNvSpPr txBox="1"/>
          <p:nvPr/>
        </p:nvSpPr>
        <p:spPr>
          <a:xfrm>
            <a:off x="594360" y="32369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F7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0F2A38"/>
          </a:solidFill>
          <a:ln w="9525">
            <a:solidFill>
              <a:srgbClr val="0F2A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2 - client</a:t>
            </a:r>
            <a:endParaRPr lang="en-US" sz="1000" dirty="0"/>
          </a:p>
        </p:txBody>
      </p:sp>
      <p:sp>
        <p:nvSpPr>
          <p:cNvPr id="14" name="u0"/>
          <p:cNvSpPr txBox="1"/>
          <p:nvPr/>
        </p:nvSpPr>
        <p:spPr>
          <a:xfrm>
            <a:off x="4800600" y="19202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F7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./tcp_client</a:t>
            </a:r>
            <a:endParaRPr lang="en-US" sz="1100" dirty="0"/>
          </a:p>
        </p:txBody>
      </p:sp>
      <p:sp>
        <p:nvSpPr>
          <p:cNvPr id="15" name="u1"/>
          <p:cNvSpPr txBox="1"/>
          <p:nvPr/>
        </p:nvSpPr>
        <p:spPr>
          <a:xfrm>
            <a:off x="4800600" y="22494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B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 to 127.0.0.1:5000</a:t>
            </a:r>
            <a:endParaRPr lang="en-US" sz="1100" dirty="0"/>
          </a:p>
        </p:txBody>
      </p:sp>
      <p:sp>
        <p:nvSpPr>
          <p:cNvPr id="16" name="u2"/>
          <p:cNvSpPr txBox="1"/>
          <p:nvPr/>
        </p:nvSpPr>
        <p:spPr>
          <a:xfrm>
            <a:off x="4800600" y="25786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D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says: Hello from the server!</a:t>
            </a:r>
            <a:endParaRPr lang="en-US" sz="1100" dirty="0"/>
          </a:p>
        </p:txBody>
      </p:sp>
      <p:sp>
        <p:nvSpPr>
          <p:cNvPr id="17" name="u3"/>
          <p:cNvSpPr txBox="1"/>
          <p:nvPr/>
        </p:nvSpPr>
        <p:spPr>
          <a:xfrm>
            <a:off x="4800600" y="29077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F7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100" dirty="0"/>
          </a:p>
        </p:txBody>
      </p:sp>
      <p:sp>
        <p:nvSpPr>
          <p:cNvPr id="18" name="tip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without the client:   echo "hi" | nc 127.0.0.1 5000       Which ports are busy?   ss -tlnp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UDP conversation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listen(), no accept(), no connect() - just address a datagram and send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114300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SERVER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0" y="114300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E07A2F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1554480"/>
            <a:ext cx="914" cy="2926080"/>
          </a:xfrm>
          <a:prstGeom prst="line">
            <a:avLst/>
          </a:prstGeom>
          <a:noFill/>
          <a:ln w="12700">
            <a:solidFill>
              <a:srgbClr val="C9D3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949440" y="1554480"/>
            <a:ext cx="914" cy="2926080"/>
          </a:xfrm>
          <a:prstGeom prst="line">
            <a:avLst/>
          </a:prstGeom>
          <a:noFill/>
          <a:ln w="12700">
            <a:solidFill>
              <a:srgbClr val="C9D3D9"/>
            </a:solidFill>
            <a:prstDash val="dash"/>
          </a:ln>
        </p:spPr>
      </p:sp>
      <p:sp>
        <p:nvSpPr>
          <p:cNvPr id="8" name="s1"/>
          <p:cNvSpPr/>
          <p:nvPr/>
        </p:nvSpPr>
        <p:spPr>
          <a:xfrm>
            <a:off x="1600200" y="167335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socket()</a:t>
            </a:r>
            <a:endParaRPr lang="en-US" sz="1100" dirty="0"/>
          </a:p>
        </p:txBody>
      </p:sp>
      <p:sp>
        <p:nvSpPr>
          <p:cNvPr id="9" name="s2"/>
          <p:cNvSpPr/>
          <p:nvPr/>
        </p:nvSpPr>
        <p:spPr>
          <a:xfrm>
            <a:off x="1600200" y="213055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bind()</a:t>
            </a:r>
            <a:endParaRPr lang="en-US" sz="1100" dirty="0"/>
          </a:p>
        </p:txBody>
      </p:sp>
      <p:sp>
        <p:nvSpPr>
          <p:cNvPr id="10" name="c1"/>
          <p:cNvSpPr/>
          <p:nvPr/>
        </p:nvSpPr>
        <p:spPr>
          <a:xfrm>
            <a:off x="6355080" y="213055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socket()</a:t>
            </a:r>
            <a:endParaRPr lang="en-US" sz="1100" dirty="0"/>
          </a:p>
        </p:txBody>
      </p:sp>
      <p:sp>
        <p:nvSpPr>
          <p:cNvPr id="11" name="s3"/>
          <p:cNvSpPr/>
          <p:nvPr/>
        </p:nvSpPr>
        <p:spPr>
          <a:xfrm>
            <a:off x="1600200" y="272491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recvfrom()</a:t>
            </a:r>
            <a:endParaRPr lang="en-US" sz="1100" dirty="0"/>
          </a:p>
        </p:txBody>
      </p:sp>
      <p:sp>
        <p:nvSpPr>
          <p:cNvPr id="12" name="c2"/>
          <p:cNvSpPr/>
          <p:nvPr/>
        </p:nvSpPr>
        <p:spPr>
          <a:xfrm>
            <a:off x="6355080" y="272491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sendto()</a:t>
            </a:r>
            <a:endParaRPr lang="en-US" sz="1100" dirty="0"/>
          </a:p>
        </p:txBody>
      </p:sp>
      <p:sp>
        <p:nvSpPr>
          <p:cNvPr id="13" name="pk1"/>
          <p:cNvSpPr/>
          <p:nvPr/>
        </p:nvSpPr>
        <p:spPr>
          <a:xfrm>
            <a:off x="4956048" y="27340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datagram</a:t>
            </a:r>
            <a:endParaRPr lang="en-US" sz="900" dirty="0"/>
          </a:p>
        </p:txBody>
      </p:sp>
      <p:sp>
        <p:nvSpPr>
          <p:cNvPr id="14" name="n1"/>
          <p:cNvSpPr txBox="1"/>
          <p:nvPr/>
        </p:nvSpPr>
        <p:spPr>
          <a:xfrm>
            <a:off x="2834640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 first - the datagram simply goes</a:t>
            </a:r>
            <a:endParaRPr lang="en-US" sz="1000" dirty="0"/>
          </a:p>
        </p:txBody>
      </p:sp>
      <p:sp>
        <p:nvSpPr>
          <p:cNvPr id="15" name="s4"/>
          <p:cNvSpPr/>
          <p:nvPr/>
        </p:nvSpPr>
        <p:spPr>
          <a:xfrm>
            <a:off x="1600200" y="331927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sendto()</a:t>
            </a:r>
            <a:endParaRPr lang="en-US" sz="1100" dirty="0"/>
          </a:p>
        </p:txBody>
      </p:sp>
      <p:sp>
        <p:nvSpPr>
          <p:cNvPr id="16" name="c3"/>
          <p:cNvSpPr/>
          <p:nvPr/>
        </p:nvSpPr>
        <p:spPr>
          <a:xfrm>
            <a:off x="6355080" y="331927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recvfrom()</a:t>
            </a:r>
            <a:endParaRPr lang="en-US" sz="1100" dirty="0"/>
          </a:p>
        </p:txBody>
      </p:sp>
      <p:sp>
        <p:nvSpPr>
          <p:cNvPr id="17" name="pk2"/>
          <p:cNvSpPr/>
          <p:nvPr/>
        </p:nvSpPr>
        <p:spPr>
          <a:xfrm>
            <a:off x="2816352" y="33284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 datagram</a:t>
            </a:r>
            <a:endParaRPr lang="en-US" sz="900" dirty="0"/>
          </a:p>
        </p:txBody>
      </p:sp>
      <p:sp>
        <p:nvSpPr>
          <p:cNvPr id="18" name="n2"/>
          <p:cNvSpPr txBox="1"/>
          <p:nvPr/>
        </p:nvSpPr>
        <p:spPr>
          <a:xfrm>
            <a:off x="2834640" y="3703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recvfrom() told the server who sent it, so it can reply</a:t>
            </a:r>
            <a:endParaRPr lang="en-US" sz="1000" dirty="0"/>
          </a:p>
        </p:txBody>
      </p:sp>
      <p:sp>
        <p:nvSpPr>
          <p:cNvPr id="19" name="s5"/>
          <p:cNvSpPr/>
          <p:nvPr/>
        </p:nvSpPr>
        <p:spPr>
          <a:xfrm>
            <a:off x="1600200" y="395935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100" dirty="0"/>
          </a:p>
        </p:txBody>
      </p:sp>
      <p:sp>
        <p:nvSpPr>
          <p:cNvPr id="20" name="c4"/>
          <p:cNvSpPr/>
          <p:nvPr/>
        </p:nvSpPr>
        <p:spPr>
          <a:xfrm>
            <a:off x="6355080" y="395935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100" dirty="0"/>
          </a:p>
        </p:txBody>
      </p:sp>
      <p:sp>
        <p:nvSpPr>
          <p:cNvPr id="21" name="warn"/>
          <p:cNvSpPr/>
          <p:nvPr/>
        </p:nvSpPr>
        <p:spPr>
          <a:xfrm>
            <a:off x="457200" y="434340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BE8D8"/>
          </a:solidFill>
          <a:ln w="9525">
            <a:solidFill>
              <a:srgbClr val="FBE8D8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UDP socket serves every client; each recvfrom() may come from someone different. If the server is down, sendto() still "succeeds" - the datagram is just lost.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 animBg="1"/>
      <p:bldP spid="16" grpId="0" animBg="1"/>
      <p:bldP spid="17" grpId="0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UDP programs - the key lines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TCP: SOCK_DGRAM, and every call names an address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udp_server.c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514600"/>
          </a:xfrm>
          <a:prstGeom prst="roundRect">
            <a:avLst>
              <a:gd name="adj" fmla="val 2182"/>
            </a:avLst>
          </a:prstGeom>
          <a:solidFill>
            <a:srgbClr val="F5F7F9"/>
          </a:solidFill>
          <a:ln w="9525">
            <a:solidFill>
              <a:srgbClr val="C9D3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44752"/>
            <a:ext cx="380390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sockfd = socket(AF_INET, SOCK_DGRAM, 0);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bind to port 5001 as before ... */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receive ONE datagram + who sent it */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recvfrom(sockfd, buffer, BUFFER_SIZE-1, 0,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(struct sockaddr *)&amp;client_addr,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&amp;client_len);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buffer[n] = '\0';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reply to that same address */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sendto(sockfd, reply, strlen(reply), 0,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(struct sockaddr *)&amp;client_addr,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client_len);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udp_client.c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2514600"/>
          </a:xfrm>
          <a:prstGeom prst="roundRect">
            <a:avLst>
              <a:gd name="adj" fmla="val 2182"/>
            </a:avLst>
          </a:prstGeom>
          <a:solidFill>
            <a:srgbClr val="F5F7F9"/>
          </a:solidFill>
          <a:ln w="9525">
            <a:solidFill>
              <a:srgbClr val="C9D3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73168" y="1444752"/>
            <a:ext cx="380390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sockfd = socket(AF_INET, SOCK_DGRAM, 0);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server address: 127.0.0.1 : 5001 */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send straight away - no connect() */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sendto(sockfd, msg, strlen(msg), 0,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(struct sockaddr *)&amp;server_addr,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sizeof(server_addr));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5B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wait for the reply */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recvfrom(sockfd, buffer, BUFFER_SIZE-1, 0,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(struct sockaddr *)&amp;server_addr,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&amp;server_len);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10" name="df0"/>
          <p:cNvSpPr/>
          <p:nvPr/>
        </p:nvSpPr>
        <p:spPr>
          <a:xfrm>
            <a:off x="457200" y="402336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1" name="dft0"/>
          <p:cNvSpPr txBox="1"/>
          <p:nvPr/>
        </p:nvSpPr>
        <p:spPr>
          <a:xfrm>
            <a:off x="5486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SOCK_DGRAM</a:t>
            </a:r>
            <a:endParaRPr lang="en-US" sz="1100" dirty="0"/>
          </a:p>
        </p:txBody>
      </p:sp>
      <p:sp>
        <p:nvSpPr>
          <p:cNvPr id="12" name="dfd0"/>
          <p:cNvSpPr txBox="1"/>
          <p:nvPr/>
        </p:nvSpPr>
        <p:spPr>
          <a:xfrm>
            <a:off x="54864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SOCK_STREAM</a:t>
            </a:r>
            <a:endParaRPr lang="en-US" sz="1000" dirty="0"/>
          </a:p>
        </p:txBody>
      </p:sp>
      <p:sp>
        <p:nvSpPr>
          <p:cNvPr id="13" name="df1"/>
          <p:cNvSpPr/>
          <p:nvPr/>
        </p:nvSpPr>
        <p:spPr>
          <a:xfrm>
            <a:off x="3246120" y="402336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4" name="dft1"/>
          <p:cNvSpPr txBox="1"/>
          <p:nvPr/>
        </p:nvSpPr>
        <p:spPr>
          <a:xfrm>
            <a:off x="333756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sendto() / recvfrom()</a:t>
            </a:r>
            <a:endParaRPr lang="en-US" sz="1100" dirty="0"/>
          </a:p>
        </p:txBody>
      </p:sp>
      <p:sp>
        <p:nvSpPr>
          <p:cNvPr id="15" name="dfd1"/>
          <p:cNvSpPr txBox="1"/>
          <p:nvPr/>
        </p:nvSpPr>
        <p:spPr>
          <a:xfrm>
            <a:off x="333756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send() / recv()</a:t>
            </a:r>
            <a:endParaRPr lang="en-US" sz="1000" dirty="0"/>
          </a:p>
        </p:txBody>
      </p:sp>
      <p:sp>
        <p:nvSpPr>
          <p:cNvPr id="16" name="df2"/>
          <p:cNvSpPr/>
          <p:nvPr/>
        </p:nvSpPr>
        <p:spPr>
          <a:xfrm>
            <a:off x="6035040" y="402336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7" name="dft2"/>
          <p:cNvSpPr txBox="1"/>
          <p:nvPr/>
        </p:nvSpPr>
        <p:spPr>
          <a:xfrm>
            <a:off x="61264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4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listen / accept / connect</a:t>
            </a:r>
            <a:endParaRPr lang="en-US" sz="1100" dirty="0"/>
          </a:p>
        </p:txBody>
      </p:sp>
      <p:sp>
        <p:nvSpPr>
          <p:cNvPr id="18" name="dfd2"/>
          <p:cNvSpPr txBox="1"/>
          <p:nvPr/>
        </p:nvSpPr>
        <p:spPr>
          <a:xfrm>
            <a:off x="61264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travels with every call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send() is not one recv()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is a byte stream - UDP keeps message boundaries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- byte stream</a:t>
            </a:r>
            <a:endParaRPr lang="en-US" sz="1400" dirty="0"/>
          </a:p>
        </p:txBody>
      </p:sp>
      <p:sp>
        <p:nvSpPr>
          <p:cNvPr id="5" name="ts0"/>
          <p:cNvSpPr/>
          <p:nvPr/>
        </p:nvSpPr>
        <p:spPr>
          <a:xfrm>
            <a:off x="457200" y="14630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send("HELLO")</a:t>
            </a:r>
            <a:endParaRPr lang="en-US" sz="1000" dirty="0"/>
          </a:p>
        </p:txBody>
      </p:sp>
      <p:sp>
        <p:nvSpPr>
          <p:cNvPr id="6" name="ts1"/>
          <p:cNvSpPr/>
          <p:nvPr/>
        </p:nvSpPr>
        <p:spPr>
          <a:xfrm>
            <a:off x="1920240" y="14630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send("WORLD")</a:t>
            </a:r>
            <a:endParaRPr lang="en-US" sz="1000" dirty="0"/>
          </a:p>
        </p:txBody>
      </p:sp>
      <p:sp>
        <p:nvSpPr>
          <p:cNvPr id="7" name="ta"/>
          <p:cNvSpPr/>
          <p:nvPr/>
        </p:nvSpPr>
        <p:spPr>
          <a:xfrm>
            <a:off x="3383280" y="1645920"/>
            <a:ext cx="457200" cy="914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8" name="ch0"/>
          <p:cNvSpPr/>
          <p:nvPr/>
        </p:nvSpPr>
        <p:spPr>
          <a:xfrm>
            <a:off x="3931920" y="1463040"/>
            <a:ext cx="301752" cy="365760"/>
          </a:xfrm>
          <a:prstGeom prst="rect">
            <a:avLst/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100" dirty="0"/>
          </a:p>
        </p:txBody>
      </p:sp>
      <p:sp>
        <p:nvSpPr>
          <p:cNvPr id="9" name="ch1"/>
          <p:cNvSpPr/>
          <p:nvPr/>
        </p:nvSpPr>
        <p:spPr>
          <a:xfrm>
            <a:off x="4261104" y="1463040"/>
            <a:ext cx="301752" cy="365760"/>
          </a:xfrm>
          <a:prstGeom prst="rect">
            <a:avLst/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00" dirty="0"/>
          </a:p>
        </p:txBody>
      </p:sp>
      <p:sp>
        <p:nvSpPr>
          <p:cNvPr id="10" name="ch2"/>
          <p:cNvSpPr/>
          <p:nvPr/>
        </p:nvSpPr>
        <p:spPr>
          <a:xfrm>
            <a:off x="4590288" y="1463040"/>
            <a:ext cx="301752" cy="365760"/>
          </a:xfrm>
          <a:prstGeom prst="rect">
            <a:avLst/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100" dirty="0"/>
          </a:p>
        </p:txBody>
      </p:sp>
      <p:sp>
        <p:nvSpPr>
          <p:cNvPr id="11" name="ch3"/>
          <p:cNvSpPr/>
          <p:nvPr/>
        </p:nvSpPr>
        <p:spPr>
          <a:xfrm>
            <a:off x="4919472" y="1463040"/>
            <a:ext cx="301752" cy="365760"/>
          </a:xfrm>
          <a:prstGeom prst="rect">
            <a:avLst/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100" dirty="0"/>
          </a:p>
        </p:txBody>
      </p:sp>
      <p:sp>
        <p:nvSpPr>
          <p:cNvPr id="12" name="ch4"/>
          <p:cNvSpPr/>
          <p:nvPr/>
        </p:nvSpPr>
        <p:spPr>
          <a:xfrm>
            <a:off x="5248656" y="1463040"/>
            <a:ext cx="301752" cy="365760"/>
          </a:xfrm>
          <a:prstGeom prst="rect">
            <a:avLst/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100" dirty="0"/>
          </a:p>
        </p:txBody>
      </p:sp>
      <p:sp>
        <p:nvSpPr>
          <p:cNvPr id="13" name="ch5"/>
          <p:cNvSpPr/>
          <p:nvPr/>
        </p:nvSpPr>
        <p:spPr>
          <a:xfrm>
            <a:off x="5577840" y="1463040"/>
            <a:ext cx="301752" cy="365760"/>
          </a:xfrm>
          <a:prstGeom prst="rect">
            <a:avLst/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100" dirty="0"/>
          </a:p>
        </p:txBody>
      </p:sp>
      <p:sp>
        <p:nvSpPr>
          <p:cNvPr id="14" name="ch6"/>
          <p:cNvSpPr/>
          <p:nvPr/>
        </p:nvSpPr>
        <p:spPr>
          <a:xfrm>
            <a:off x="5907024" y="1463040"/>
            <a:ext cx="301752" cy="365760"/>
          </a:xfrm>
          <a:prstGeom prst="rect">
            <a:avLst/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100" dirty="0"/>
          </a:p>
        </p:txBody>
      </p:sp>
      <p:sp>
        <p:nvSpPr>
          <p:cNvPr id="15" name="ch7"/>
          <p:cNvSpPr/>
          <p:nvPr/>
        </p:nvSpPr>
        <p:spPr>
          <a:xfrm>
            <a:off x="6236208" y="1463040"/>
            <a:ext cx="301752" cy="365760"/>
          </a:xfrm>
          <a:prstGeom prst="rect">
            <a:avLst/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6" name="ch8"/>
          <p:cNvSpPr/>
          <p:nvPr/>
        </p:nvSpPr>
        <p:spPr>
          <a:xfrm>
            <a:off x="6565392" y="1463040"/>
            <a:ext cx="301752" cy="365760"/>
          </a:xfrm>
          <a:prstGeom prst="rect">
            <a:avLst/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100" dirty="0"/>
          </a:p>
        </p:txBody>
      </p:sp>
      <p:sp>
        <p:nvSpPr>
          <p:cNvPr id="17" name="ch9"/>
          <p:cNvSpPr/>
          <p:nvPr/>
        </p:nvSpPr>
        <p:spPr>
          <a:xfrm>
            <a:off x="6894576" y="1463040"/>
            <a:ext cx="301752" cy="365760"/>
          </a:xfrm>
          <a:prstGeom prst="rect">
            <a:avLst/>
          </a:prstGeom>
          <a:solidFill>
            <a:srgbClr val="DDEEF4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00" dirty="0"/>
          </a:p>
        </p:txBody>
      </p:sp>
      <p:sp>
        <p:nvSpPr>
          <p:cNvPr id="18" name="pipe"/>
          <p:cNvSpPr txBox="1"/>
          <p:nvPr/>
        </p:nvSpPr>
        <p:spPr>
          <a:xfrm>
            <a:off x="736092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</a:t>
            </a:r>
            <a:endParaRPr lang="en-US" sz="1000" dirty="0"/>
          </a:p>
        </p:txBody>
      </p:sp>
      <p:sp>
        <p:nvSpPr>
          <p:cNvPr id="19" name="rl"/>
          <p:cNvSpPr txBox="1"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may get:</a:t>
            </a:r>
            <a:endParaRPr lang="en-US" sz="1100" dirty="0"/>
          </a:p>
        </p:txBody>
      </p:sp>
      <p:sp>
        <p:nvSpPr>
          <p:cNvPr id="20" name="r0"/>
          <p:cNvSpPr/>
          <p:nvPr/>
        </p:nvSpPr>
        <p:spPr>
          <a:xfrm>
            <a:off x="1920240" y="193852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1F5F7"/>
          </a:solidFill>
          <a:ln w="9525">
            <a:solidFill>
              <a:srgbClr val="C9D3D9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recv() -&gt; "HEL"</a:t>
            </a:r>
            <a:endParaRPr lang="en-US" sz="1000" dirty="0"/>
          </a:p>
        </p:txBody>
      </p:sp>
      <p:sp>
        <p:nvSpPr>
          <p:cNvPr id="21" name="r1"/>
          <p:cNvSpPr/>
          <p:nvPr/>
        </p:nvSpPr>
        <p:spPr>
          <a:xfrm>
            <a:off x="3749040" y="1938528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1F5F7"/>
          </a:solidFill>
          <a:ln w="9525">
            <a:solidFill>
              <a:srgbClr val="C9D3D9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recv() -&gt; "LOWORLD"</a:t>
            </a:r>
            <a:endParaRPr lang="en-US" sz="1000" dirty="0"/>
          </a:p>
        </p:txBody>
      </p:sp>
      <p:sp>
        <p:nvSpPr>
          <p:cNvPr id="22" name="r2"/>
          <p:cNvSpPr txBox="1"/>
          <p:nvPr/>
        </p:nvSpPr>
        <p:spPr>
          <a:xfrm>
            <a:off x="6035040" y="1938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...or "HELLOWORLD" in one go. All correct!</a:t>
            </a:r>
            <a:endParaRPr lang="en-US" sz="1000" dirty="0"/>
          </a:p>
        </p:txBody>
      </p:sp>
      <p:sp>
        <p:nvSpPr>
          <p:cNvPr id="23" name="fix"/>
          <p:cNvSpPr/>
          <p:nvPr/>
        </p:nvSpPr>
        <p:spPr>
          <a:xfrm>
            <a:off x="457200" y="24231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DDEEF4"/>
          </a:solidFill>
          <a:ln w="9525">
            <a:solidFill>
              <a:srgbClr val="DDEEF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framing to your protocol - end each message with '\n', or send its length first (4 bytes, htonl()).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- datagrams</a:t>
            </a:r>
            <a:endParaRPr lang="en-US" sz="1400" dirty="0"/>
          </a:p>
        </p:txBody>
      </p:sp>
      <p:sp>
        <p:nvSpPr>
          <p:cNvPr id="25" name="us0"/>
          <p:cNvSpPr/>
          <p:nvPr/>
        </p:nvSpPr>
        <p:spPr>
          <a:xfrm>
            <a:off x="457200" y="342900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sendto("HELLO")</a:t>
            </a:r>
            <a:endParaRPr lang="en-US" sz="1000" dirty="0"/>
          </a:p>
        </p:txBody>
      </p:sp>
      <p:sp>
        <p:nvSpPr>
          <p:cNvPr id="26" name="us1"/>
          <p:cNvSpPr/>
          <p:nvPr/>
        </p:nvSpPr>
        <p:spPr>
          <a:xfrm>
            <a:off x="2011680" y="342900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BE8D8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sendto("WORLD")</a:t>
            </a:r>
            <a:endParaRPr lang="en-US" sz="1000" dirty="0"/>
          </a:p>
        </p:txBody>
      </p:sp>
      <p:sp>
        <p:nvSpPr>
          <p:cNvPr id="27" name="ua"/>
          <p:cNvSpPr/>
          <p:nvPr/>
        </p:nvSpPr>
        <p:spPr>
          <a:xfrm>
            <a:off x="3566160" y="3611880"/>
            <a:ext cx="457200" cy="914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28" name="d0"/>
          <p:cNvSpPr/>
          <p:nvPr/>
        </p:nvSpPr>
        <p:spPr>
          <a:xfrm>
            <a:off x="4114800" y="346557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900" dirty="0"/>
          </a:p>
        </p:txBody>
      </p:sp>
      <p:sp>
        <p:nvSpPr>
          <p:cNvPr id="29" name="d1"/>
          <p:cNvSpPr/>
          <p:nvPr/>
        </p:nvSpPr>
        <p:spPr>
          <a:xfrm>
            <a:off x="5120640" y="346557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</a:t>
            </a:r>
            <a:endParaRPr lang="en-US" sz="900" dirty="0"/>
          </a:p>
        </p:txBody>
      </p:sp>
      <p:sp>
        <p:nvSpPr>
          <p:cNvPr id="30" name="ul"/>
          <p:cNvSpPr txBox="1"/>
          <p:nvPr/>
        </p:nvSpPr>
        <p:spPr>
          <a:xfrm>
            <a:off x="617220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recvfrom() = exactly one datagram</a:t>
            </a:r>
            <a:endParaRPr lang="en-US" sz="1000" dirty="0"/>
          </a:p>
        </p:txBody>
      </p:sp>
      <p:sp>
        <p:nvSpPr>
          <p:cNvPr id="31" name="ufix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BE8D8"/>
          </a:solidFill>
          <a:ln w="9525">
            <a:solidFill>
              <a:srgbClr val="FBE8D8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a datagram may be lost, duplicated or overtaken by the next one - UDP does not promise delivery.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connection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close() sends FIN; each direction is shut down separately - four segments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E07A2F"/>
          </a:solidFill>
          <a:ln w="9525">
            <a:solidFill>
              <a:srgbClr val="E07A2F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118872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1600200"/>
            <a:ext cx="914" cy="2560320"/>
          </a:xfrm>
          <a:prstGeom prst="line">
            <a:avLst/>
          </a:prstGeom>
          <a:noFill/>
          <a:ln w="12700">
            <a:solidFill>
              <a:srgbClr val="C9D3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589520" y="1600200"/>
            <a:ext cx="914" cy="2560320"/>
          </a:xfrm>
          <a:prstGeom prst="line">
            <a:avLst/>
          </a:prstGeom>
          <a:noFill/>
          <a:ln w="12700">
            <a:solidFill>
              <a:srgbClr val="C9D3D9"/>
            </a:solidFill>
            <a:prstDash val="dash"/>
          </a:ln>
        </p:spPr>
      </p:sp>
      <p:sp>
        <p:nvSpPr>
          <p:cNvPr id="8" name="cc"/>
          <p:cNvSpPr txBox="1"/>
          <p:nvPr/>
        </p:nvSpPr>
        <p:spPr>
          <a:xfrm>
            <a:off x="82296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100" dirty="0"/>
          </a:p>
        </p:txBody>
      </p:sp>
      <p:sp>
        <p:nvSpPr>
          <p:cNvPr id="9" name="a0"/>
          <p:cNvSpPr/>
          <p:nvPr/>
        </p:nvSpPr>
        <p:spPr>
          <a:xfrm>
            <a:off x="1600200" y="2011680"/>
            <a:ext cx="5943600" cy="109728"/>
          </a:xfrm>
          <a:prstGeom prst="line">
            <a:avLst/>
          </a:prstGeom>
          <a:noFill/>
          <a:ln w="25400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10" name="d0"/>
          <p:cNvSpPr txBox="1"/>
          <p:nvPr/>
        </p:nvSpPr>
        <p:spPr>
          <a:xfrm>
            <a:off x="2194560" y="1682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"I have nothing more to send"</a:t>
            </a:r>
            <a:endParaRPr lang="en-US" sz="1100" dirty="0"/>
          </a:p>
        </p:txBody>
      </p:sp>
      <p:sp>
        <p:nvSpPr>
          <p:cNvPr id="11" name="p0"/>
          <p:cNvSpPr/>
          <p:nvPr/>
        </p:nvSpPr>
        <p:spPr>
          <a:xfrm>
            <a:off x="1691640" y="190195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900" dirty="0"/>
          </a:p>
        </p:txBody>
      </p:sp>
      <p:sp>
        <p:nvSpPr>
          <p:cNvPr id="12" name="a1"/>
          <p:cNvSpPr/>
          <p:nvPr/>
        </p:nvSpPr>
        <p:spPr>
          <a:xfrm flipH="1">
            <a:off x="1600200" y="2606040"/>
            <a:ext cx="5943600" cy="10972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d1"/>
          <p:cNvSpPr txBox="1"/>
          <p:nvPr/>
        </p:nvSpPr>
        <p:spPr>
          <a:xfrm>
            <a:off x="2194560" y="22768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"Understood"  -  the server's recv() now returns 0</a:t>
            </a:r>
            <a:endParaRPr lang="en-US" sz="1100" dirty="0"/>
          </a:p>
        </p:txBody>
      </p:sp>
      <p:sp>
        <p:nvSpPr>
          <p:cNvPr id="14" name="p1"/>
          <p:cNvSpPr/>
          <p:nvPr/>
        </p:nvSpPr>
        <p:spPr>
          <a:xfrm>
            <a:off x="6812280" y="249631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</a:t>
            </a:r>
            <a:endParaRPr lang="en-US" sz="900" dirty="0"/>
          </a:p>
        </p:txBody>
      </p:sp>
      <p:sp>
        <p:nvSpPr>
          <p:cNvPr id="15" name="a2"/>
          <p:cNvSpPr/>
          <p:nvPr/>
        </p:nvSpPr>
        <p:spPr>
          <a:xfrm flipH="1">
            <a:off x="1600200" y="3200400"/>
            <a:ext cx="5943600" cy="10972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d2"/>
          <p:cNvSpPr txBox="1"/>
          <p:nvPr/>
        </p:nvSpPr>
        <p:spPr>
          <a:xfrm>
            <a:off x="2194560" y="2871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"I am done too"  (after sending any last data)</a:t>
            </a:r>
            <a:endParaRPr lang="en-US" sz="1100" dirty="0"/>
          </a:p>
        </p:txBody>
      </p:sp>
      <p:sp>
        <p:nvSpPr>
          <p:cNvPr id="17" name="p2"/>
          <p:cNvSpPr/>
          <p:nvPr/>
        </p:nvSpPr>
        <p:spPr>
          <a:xfrm>
            <a:off x="6812280" y="309067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900" dirty="0"/>
          </a:p>
        </p:txBody>
      </p:sp>
      <p:sp>
        <p:nvSpPr>
          <p:cNvPr id="18" name="a3"/>
          <p:cNvSpPr/>
          <p:nvPr/>
        </p:nvSpPr>
        <p:spPr>
          <a:xfrm>
            <a:off x="1600200" y="3794760"/>
            <a:ext cx="5943600" cy="109728"/>
          </a:xfrm>
          <a:prstGeom prst="line">
            <a:avLst/>
          </a:prstGeom>
          <a:noFill/>
          <a:ln w="25400">
            <a:solidFill>
              <a:srgbClr val="E07A2F"/>
            </a:solidFill>
            <a:prstDash val="solid"/>
            <a:tailEnd type="triangle"/>
          </a:ln>
        </p:spPr>
      </p:sp>
      <p:sp>
        <p:nvSpPr>
          <p:cNvPr id="19" name="d3"/>
          <p:cNvSpPr txBox="1"/>
          <p:nvPr/>
        </p:nvSpPr>
        <p:spPr>
          <a:xfrm>
            <a:off x="2194560" y="3465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"Understood"</a:t>
            </a:r>
            <a:endParaRPr lang="en-US" sz="1100" dirty="0"/>
          </a:p>
        </p:txBody>
      </p:sp>
      <p:sp>
        <p:nvSpPr>
          <p:cNvPr id="20" name="p3"/>
          <p:cNvSpPr/>
          <p:nvPr/>
        </p:nvSpPr>
        <p:spPr>
          <a:xfrm>
            <a:off x="1691640" y="368503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12700">
            <a:solidFill>
              <a:srgbClr val="FFFFFF"/>
            </a:solidFill>
          </a:ln>
          <a:effectLst>
            <a:outerShdw blurRad="50800" dist="19050" dir="54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</a:t>
            </a:r>
            <a:endParaRPr lang="en-US" sz="900" dirty="0"/>
          </a:p>
        </p:txBody>
      </p:sp>
      <p:sp>
        <p:nvSpPr>
          <p:cNvPr id="21" name="sc"/>
          <p:cNvSpPr txBox="1"/>
          <p:nvPr/>
        </p:nvSpPr>
        <p:spPr>
          <a:xfrm>
            <a:off x="6858000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100" dirty="0"/>
          </a:p>
        </p:txBody>
      </p:sp>
      <p:sp>
        <p:nvSpPr>
          <p:cNvPr id="22" name="tw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 that closes first waits briefly in TIME_WAIT. That is why a restarted server can see "Address already in use" - fix it with SO_REUSEADDR.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56000 0.02133 E" pathEditMode="relative" rAng="0" ptsTypes="AA">
                                      <p:cBhvr>
                                        <p:cTn id="15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6000 0.02133 E" pathEditMode="relative" rAng="0" ptsTypes="AA">
                                      <p:cBhvr>
                                        <p:cTn id="25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56000 0.02133 E" pathEditMode="relative" rAng="0" ptsTypes="AA">
                                      <p:cBhvr>
                                        <p:cTn id="38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6000 0.02133 E" pathEditMode="relative" rAng="0" ptsTypes="AA">
                                      <p:cBhvr>
                                        <p:cTn id="48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things go wrong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can fail - check it, print the reason with perror(), clean up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 cause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50" dirty="0"/>
          </a:p>
        </p:txBody>
      </p:sp>
      <p:sp>
        <p:nvSpPr>
          <p:cNvPr id="7" name="e0"/>
          <p:cNvSpPr/>
          <p:nvPr/>
        </p:nvSpPr>
        <p:spPr>
          <a:xfrm>
            <a:off x="457200" y="1371600"/>
            <a:ext cx="8229600" cy="667512"/>
          </a:xfrm>
          <a:prstGeom prst="roundRect">
            <a:avLst>
              <a:gd name="adj" fmla="val 10959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8" name="et0"/>
          <p:cNvSpPr txBox="1"/>
          <p:nvPr/>
        </p:nvSpPr>
        <p:spPr>
          <a:xfrm>
            <a:off x="59436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 already in use</a:t>
            </a:r>
            <a:endParaRPr lang="en-US" sz="1100" dirty="0"/>
          </a:p>
        </p:txBody>
      </p:sp>
      <p:sp>
        <p:nvSpPr>
          <p:cNvPr id="9" name="ed0"/>
          <p:cNvSpPr txBox="1"/>
          <p:nvPr/>
        </p:nvSpPr>
        <p:spPr>
          <a:xfrm>
            <a:off x="2926080" y="1444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program (or your last run) still owns the port.</a:t>
            </a:r>
            <a:endParaRPr lang="en-US" sz="1050" dirty="0"/>
          </a:p>
        </p:txBody>
      </p:sp>
      <p:sp>
        <p:nvSpPr>
          <p:cNvPr id="10" name="ef0"/>
          <p:cNvSpPr txBox="1"/>
          <p:nvPr/>
        </p:nvSpPr>
        <p:spPr>
          <a:xfrm>
            <a:off x="5760720" y="14447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-tlnp to find it; pick another port; set SO_REUSEADDR.</a:t>
            </a:r>
            <a:endParaRPr lang="en-US" sz="1050" dirty="0"/>
          </a:p>
        </p:txBody>
      </p:sp>
      <p:sp>
        <p:nvSpPr>
          <p:cNvPr id="11" name="e1"/>
          <p:cNvSpPr/>
          <p:nvPr/>
        </p:nvSpPr>
        <p:spPr>
          <a:xfrm>
            <a:off x="457200" y="2103120"/>
            <a:ext cx="8229600" cy="667512"/>
          </a:xfrm>
          <a:prstGeom prst="roundRect">
            <a:avLst>
              <a:gd name="adj" fmla="val 10959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2" name="et1"/>
          <p:cNvSpPr txBox="1"/>
          <p:nvPr/>
        </p:nvSpPr>
        <p:spPr>
          <a:xfrm>
            <a:off x="594360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refused</a:t>
            </a:r>
            <a:endParaRPr lang="en-US" sz="1100" dirty="0"/>
          </a:p>
        </p:txBody>
      </p:sp>
      <p:sp>
        <p:nvSpPr>
          <p:cNvPr id="13" name="ed1"/>
          <p:cNvSpPr txBox="1"/>
          <p:nvPr/>
        </p:nvSpPr>
        <p:spPr>
          <a:xfrm>
            <a:off x="2926080" y="2176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listening at that IP:port.</a:t>
            </a:r>
            <a:endParaRPr lang="en-US" sz="1050" dirty="0"/>
          </a:p>
        </p:txBody>
      </p:sp>
      <p:sp>
        <p:nvSpPr>
          <p:cNvPr id="14" name="ef1"/>
          <p:cNvSpPr txBox="1"/>
          <p:nvPr/>
        </p:nvSpPr>
        <p:spPr>
          <a:xfrm>
            <a:off x="5760720" y="2176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server first; check IP, port and protocol.</a:t>
            </a:r>
            <a:endParaRPr lang="en-US" sz="1050" dirty="0"/>
          </a:p>
        </p:txBody>
      </p:sp>
      <p:sp>
        <p:nvSpPr>
          <p:cNvPr id="15" name="e2"/>
          <p:cNvSpPr/>
          <p:nvPr/>
        </p:nvSpPr>
        <p:spPr>
          <a:xfrm>
            <a:off x="457200" y="2834640"/>
            <a:ext cx="8229600" cy="667512"/>
          </a:xfrm>
          <a:prstGeom prst="roundRect">
            <a:avLst>
              <a:gd name="adj" fmla="val 10959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6" name="et2"/>
          <p:cNvSpPr txBox="1"/>
          <p:nvPr/>
        </p:nvSpPr>
        <p:spPr>
          <a:xfrm>
            <a:off x="59436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4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timed out</a:t>
            </a:r>
            <a:endParaRPr lang="en-US" sz="1100" dirty="0"/>
          </a:p>
        </p:txBody>
      </p:sp>
      <p:sp>
        <p:nvSpPr>
          <p:cNvPr id="17" name="ed2"/>
          <p:cNvSpPr txBox="1"/>
          <p:nvPr/>
        </p:nvSpPr>
        <p:spPr>
          <a:xfrm>
            <a:off x="2926080" y="29077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unreachable or a firewall drops the packets.</a:t>
            </a:r>
            <a:endParaRPr lang="en-US" sz="1050" dirty="0"/>
          </a:p>
        </p:txBody>
      </p:sp>
      <p:sp>
        <p:nvSpPr>
          <p:cNvPr id="18" name="ef2"/>
          <p:cNvSpPr txBox="1"/>
          <p:nvPr/>
        </p:nvSpPr>
        <p:spPr>
          <a:xfrm>
            <a:off x="5760720" y="29077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address, the network and the firewall.</a:t>
            </a:r>
            <a:endParaRPr lang="en-US" sz="1050" dirty="0"/>
          </a:p>
        </p:txBody>
      </p:sp>
      <p:sp>
        <p:nvSpPr>
          <p:cNvPr id="19" name="e3"/>
          <p:cNvSpPr/>
          <p:nvPr/>
        </p:nvSpPr>
        <p:spPr>
          <a:xfrm>
            <a:off x="457200" y="3566160"/>
            <a:ext cx="8229600" cy="667512"/>
          </a:xfrm>
          <a:prstGeom prst="roundRect">
            <a:avLst>
              <a:gd name="adj" fmla="val 10959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0" name="et3"/>
          <p:cNvSpPr txBox="1"/>
          <p:nvPr/>
        </p:nvSpPr>
        <p:spPr>
          <a:xfrm>
            <a:off x="59436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just hangs</a:t>
            </a:r>
            <a:endParaRPr lang="en-US" sz="1100" dirty="0"/>
          </a:p>
        </p:txBody>
      </p:sp>
      <p:sp>
        <p:nvSpPr>
          <p:cNvPr id="21" name="ed3"/>
          <p:cNvSpPr txBox="1"/>
          <p:nvPr/>
        </p:nvSpPr>
        <p:spPr>
          <a:xfrm>
            <a:off x="2926080" y="3639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accept() / recv() / recvfrom() are blocking and nothing arrived.</a:t>
            </a:r>
            <a:endParaRPr lang="en-US" sz="1050" dirty="0"/>
          </a:p>
        </p:txBody>
      </p:sp>
      <p:sp>
        <p:nvSpPr>
          <p:cNvPr id="22" name="ef3"/>
          <p:cNvSpPr txBox="1"/>
          <p:nvPr/>
        </p:nvSpPr>
        <p:spPr>
          <a:xfrm>
            <a:off x="5760720" y="36393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other side really send? For UDP add SO_RCVTIMEO.</a:t>
            </a:r>
            <a:endParaRPr lang="en-US" sz="1050" dirty="0"/>
          </a:p>
        </p:txBody>
      </p:sp>
      <p:sp>
        <p:nvSpPr>
          <p:cNvPr id="23" name="chk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 htons() on the port  -  memset() the struct  -  '\0' after recv()  -  handle recv() == 0  -  close BOTH sockets  -  server before client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many clients at once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 client: the main thread only accepts, workers do the talking</a:t>
            </a:r>
            <a:endParaRPr lang="en-US" sz="1300" dirty="0"/>
          </a:p>
        </p:txBody>
      </p:sp>
      <p:sp>
        <p:nvSpPr>
          <p:cNvPr id="4" name="main"/>
          <p:cNvSpPr/>
          <p:nvPr/>
        </p:nvSpPr>
        <p:spPr>
          <a:xfrm>
            <a:off x="457200" y="210312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maint"/>
          <p:cNvSpPr txBox="1"/>
          <p:nvPr/>
        </p:nvSpPr>
        <p:spPr>
          <a:xfrm>
            <a:off x="45720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</a:t>
            </a:r>
            <a:endParaRPr lang="en-US" sz="1400" dirty="0"/>
          </a:p>
        </p:txBody>
      </p:sp>
      <p:sp>
        <p:nvSpPr>
          <p:cNvPr id="6" name="maind"/>
          <p:cNvSpPr txBox="1"/>
          <p:nvPr/>
        </p:nvSpPr>
        <p:spPr>
          <a:xfrm>
            <a:off x="457200" y="2542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(;;) { accept();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pthread_create(); }</a:t>
            </a:r>
            <a:endParaRPr lang="en-US" sz="850" dirty="0"/>
          </a:p>
        </p:txBody>
      </p:sp>
      <p:sp>
        <p:nvSpPr>
          <p:cNvPr id="7" name="mainl"/>
          <p:cNvSpPr txBox="1"/>
          <p:nvPr/>
        </p:nvSpPr>
        <p:spPr>
          <a:xfrm>
            <a:off x="45720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socket - port 5000</a:t>
            </a:r>
            <a:endParaRPr lang="en-US" sz="950" dirty="0"/>
          </a:p>
        </p:txBody>
      </p:sp>
      <p:sp>
        <p:nvSpPr>
          <p:cNvPr id="8" name="sp0"/>
          <p:cNvSpPr/>
          <p:nvPr/>
        </p:nvSpPr>
        <p:spPr>
          <a:xfrm flipV="1">
            <a:off x="2606040" y="1508760"/>
            <a:ext cx="1234440" cy="1097280"/>
          </a:xfrm>
          <a:prstGeom prst="line">
            <a:avLst/>
          </a:prstGeom>
          <a:noFill/>
          <a:ln w="19050">
            <a:solidFill>
              <a:srgbClr val="123C4E"/>
            </a:solidFill>
            <a:prstDash val="solid"/>
            <a:tailEnd type="triangle"/>
          </a:ln>
        </p:spPr>
      </p:sp>
      <p:sp>
        <p:nvSpPr>
          <p:cNvPr id="9" name="w0"/>
          <p:cNvSpPr/>
          <p:nvPr/>
        </p:nvSpPr>
        <p:spPr>
          <a:xfrm>
            <a:off x="3886200" y="11887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DDEEF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wt0"/>
          <p:cNvSpPr txBox="1"/>
          <p:nvPr/>
        </p:nvSpPr>
        <p:spPr>
          <a:xfrm>
            <a:off x="3886200" y="1243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thread 1</a:t>
            </a:r>
            <a:endParaRPr lang="en-US" sz="1200" dirty="0"/>
          </a:p>
        </p:txBody>
      </p:sp>
      <p:sp>
        <p:nvSpPr>
          <p:cNvPr id="11" name="wd0"/>
          <p:cNvSpPr txBox="1"/>
          <p:nvPr/>
        </p:nvSpPr>
        <p:spPr>
          <a:xfrm>
            <a:off x="3886200" y="1517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recv() / send() loop</a:t>
            </a:r>
            <a:endParaRPr lang="en-US" sz="950" dirty="0"/>
          </a:p>
        </p:txBody>
      </p:sp>
      <p:sp>
        <p:nvSpPr>
          <p:cNvPr id="12" name="wa0"/>
          <p:cNvSpPr/>
          <p:nvPr/>
        </p:nvSpPr>
        <p:spPr>
          <a:xfrm>
            <a:off x="6126480" y="1463040"/>
            <a:ext cx="731520" cy="914"/>
          </a:xfrm>
          <a:prstGeom prst="line">
            <a:avLst/>
          </a:prstGeom>
          <a:noFill/>
          <a:ln w="19050">
            <a:solidFill>
              <a:srgbClr val="E07A2F"/>
            </a:solidFill>
            <a:prstDash val="solid"/>
            <a:headEnd type="triangle"/>
            <a:tailEnd type="triangle"/>
          </a:ln>
        </p:spPr>
      </p:sp>
      <p:sp>
        <p:nvSpPr>
          <p:cNvPr id="13" name="wc0_a"/>
          <p:cNvSpPr/>
          <p:nvPr/>
        </p:nvSpPr>
        <p:spPr>
          <a:xfrm>
            <a:off x="6949440" y="1207008"/>
            <a:ext cx="777240" cy="391729"/>
          </a:xfrm>
          <a:prstGeom prst="roundRect">
            <a:avLst>
              <a:gd name="adj" fmla="val 11671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4" name="wc0_b"/>
          <p:cNvSpPr/>
          <p:nvPr/>
        </p:nvSpPr>
        <p:spPr>
          <a:xfrm>
            <a:off x="7011619" y="1251777"/>
            <a:ext cx="652882" cy="3021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wc0_c"/>
          <p:cNvSpPr/>
          <p:nvPr/>
        </p:nvSpPr>
        <p:spPr>
          <a:xfrm>
            <a:off x="7275881" y="1598737"/>
            <a:ext cx="124358" cy="83942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6" name="wc0_d"/>
          <p:cNvSpPr/>
          <p:nvPr/>
        </p:nvSpPr>
        <p:spPr>
          <a:xfrm>
            <a:off x="7143750" y="1682679"/>
            <a:ext cx="388620" cy="39173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7" name="wc0_l"/>
          <p:cNvSpPr txBox="1"/>
          <p:nvPr/>
        </p:nvSpPr>
        <p:spPr>
          <a:xfrm>
            <a:off x="6675120" y="1794053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1000" dirty="0"/>
          </a:p>
        </p:txBody>
      </p:sp>
      <p:sp>
        <p:nvSpPr>
          <p:cNvPr id="18" name="sp1"/>
          <p:cNvSpPr/>
          <p:nvPr/>
        </p:nvSpPr>
        <p:spPr>
          <a:xfrm flipV="1">
            <a:off x="2606040" y="2560320"/>
            <a:ext cx="1234440" cy="45720"/>
          </a:xfrm>
          <a:prstGeom prst="line">
            <a:avLst/>
          </a:prstGeom>
          <a:noFill/>
          <a:ln w="19050">
            <a:solidFill>
              <a:srgbClr val="123C4E"/>
            </a:solidFill>
            <a:prstDash val="solid"/>
            <a:tailEnd type="triangle"/>
          </a:ln>
        </p:spPr>
      </p:sp>
      <p:sp>
        <p:nvSpPr>
          <p:cNvPr id="19" name="w1"/>
          <p:cNvSpPr/>
          <p:nvPr/>
        </p:nvSpPr>
        <p:spPr>
          <a:xfrm>
            <a:off x="3886200" y="22402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DDEEF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0" name="wt1"/>
          <p:cNvSpPr txBox="1"/>
          <p:nvPr/>
        </p:nvSpPr>
        <p:spPr>
          <a:xfrm>
            <a:off x="3886200" y="22951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thread 2</a:t>
            </a:r>
            <a:endParaRPr lang="en-US" sz="1200" dirty="0"/>
          </a:p>
        </p:txBody>
      </p:sp>
      <p:sp>
        <p:nvSpPr>
          <p:cNvPr id="21" name="wd1"/>
          <p:cNvSpPr txBox="1"/>
          <p:nvPr/>
        </p:nvSpPr>
        <p:spPr>
          <a:xfrm>
            <a:off x="3886200" y="2569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recv() / send() loop</a:t>
            </a:r>
            <a:endParaRPr lang="en-US" sz="950" dirty="0"/>
          </a:p>
        </p:txBody>
      </p:sp>
      <p:sp>
        <p:nvSpPr>
          <p:cNvPr id="22" name="wa1"/>
          <p:cNvSpPr/>
          <p:nvPr/>
        </p:nvSpPr>
        <p:spPr>
          <a:xfrm>
            <a:off x="6126480" y="2514600"/>
            <a:ext cx="731520" cy="914"/>
          </a:xfrm>
          <a:prstGeom prst="line">
            <a:avLst/>
          </a:prstGeom>
          <a:noFill/>
          <a:ln w="19050">
            <a:solidFill>
              <a:srgbClr val="E07A2F"/>
            </a:solidFill>
            <a:prstDash val="solid"/>
            <a:headEnd type="triangle"/>
            <a:tailEnd type="triangle"/>
          </a:ln>
        </p:spPr>
      </p:sp>
      <p:sp>
        <p:nvSpPr>
          <p:cNvPr id="23" name="wc1_a"/>
          <p:cNvSpPr/>
          <p:nvPr/>
        </p:nvSpPr>
        <p:spPr>
          <a:xfrm>
            <a:off x="6949440" y="2258568"/>
            <a:ext cx="777240" cy="391729"/>
          </a:xfrm>
          <a:prstGeom prst="roundRect">
            <a:avLst>
              <a:gd name="adj" fmla="val 11671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4" name="wc1_b"/>
          <p:cNvSpPr/>
          <p:nvPr/>
        </p:nvSpPr>
        <p:spPr>
          <a:xfrm>
            <a:off x="7011619" y="2303337"/>
            <a:ext cx="652882" cy="3021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wc1_c"/>
          <p:cNvSpPr/>
          <p:nvPr/>
        </p:nvSpPr>
        <p:spPr>
          <a:xfrm>
            <a:off x="7275881" y="2650297"/>
            <a:ext cx="124358" cy="83942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6" name="wc1_d"/>
          <p:cNvSpPr/>
          <p:nvPr/>
        </p:nvSpPr>
        <p:spPr>
          <a:xfrm>
            <a:off x="7143750" y="2734239"/>
            <a:ext cx="388620" cy="39173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7" name="wc1_l"/>
          <p:cNvSpPr txBox="1"/>
          <p:nvPr/>
        </p:nvSpPr>
        <p:spPr>
          <a:xfrm>
            <a:off x="6675120" y="2845613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1000" dirty="0"/>
          </a:p>
        </p:txBody>
      </p:sp>
      <p:sp>
        <p:nvSpPr>
          <p:cNvPr id="28" name="sp2"/>
          <p:cNvSpPr/>
          <p:nvPr/>
        </p:nvSpPr>
        <p:spPr>
          <a:xfrm>
            <a:off x="2606040" y="2606040"/>
            <a:ext cx="1234440" cy="1005840"/>
          </a:xfrm>
          <a:prstGeom prst="line">
            <a:avLst/>
          </a:prstGeom>
          <a:noFill/>
          <a:ln w="19050">
            <a:solidFill>
              <a:srgbClr val="123C4E"/>
            </a:solidFill>
            <a:prstDash val="solid"/>
            <a:tailEnd type="triangle"/>
          </a:ln>
        </p:spPr>
      </p:sp>
      <p:sp>
        <p:nvSpPr>
          <p:cNvPr id="29" name="w2"/>
          <p:cNvSpPr/>
          <p:nvPr/>
        </p:nvSpPr>
        <p:spPr>
          <a:xfrm>
            <a:off x="3886200" y="32918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DDEEF4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0" name="wt2"/>
          <p:cNvSpPr txBox="1"/>
          <p:nvPr/>
        </p:nvSpPr>
        <p:spPr>
          <a:xfrm>
            <a:off x="3886200" y="3346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thread 3</a:t>
            </a:r>
            <a:endParaRPr lang="en-US" sz="1200" dirty="0"/>
          </a:p>
        </p:txBody>
      </p:sp>
      <p:sp>
        <p:nvSpPr>
          <p:cNvPr id="31" name="wd2"/>
          <p:cNvSpPr txBox="1"/>
          <p:nvPr/>
        </p:nvSpPr>
        <p:spPr>
          <a:xfrm>
            <a:off x="3886200" y="3621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recv() / send() loop</a:t>
            </a:r>
            <a:endParaRPr lang="en-US" sz="950" dirty="0"/>
          </a:p>
        </p:txBody>
      </p:sp>
      <p:sp>
        <p:nvSpPr>
          <p:cNvPr id="32" name="wa2"/>
          <p:cNvSpPr/>
          <p:nvPr/>
        </p:nvSpPr>
        <p:spPr>
          <a:xfrm>
            <a:off x="6126480" y="3566160"/>
            <a:ext cx="731520" cy="914"/>
          </a:xfrm>
          <a:prstGeom prst="line">
            <a:avLst/>
          </a:prstGeom>
          <a:noFill/>
          <a:ln w="19050">
            <a:solidFill>
              <a:srgbClr val="E07A2F"/>
            </a:solidFill>
            <a:prstDash val="solid"/>
            <a:headEnd type="triangle"/>
            <a:tailEnd type="triangle"/>
          </a:ln>
        </p:spPr>
      </p:sp>
      <p:sp>
        <p:nvSpPr>
          <p:cNvPr id="33" name="wc2_a"/>
          <p:cNvSpPr/>
          <p:nvPr/>
        </p:nvSpPr>
        <p:spPr>
          <a:xfrm>
            <a:off x="6949440" y="3310128"/>
            <a:ext cx="777240" cy="391729"/>
          </a:xfrm>
          <a:prstGeom prst="roundRect">
            <a:avLst>
              <a:gd name="adj" fmla="val 11671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34" name="wc2_b"/>
          <p:cNvSpPr/>
          <p:nvPr/>
        </p:nvSpPr>
        <p:spPr>
          <a:xfrm>
            <a:off x="7011619" y="3354897"/>
            <a:ext cx="652882" cy="3021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wc2_c"/>
          <p:cNvSpPr/>
          <p:nvPr/>
        </p:nvSpPr>
        <p:spPr>
          <a:xfrm>
            <a:off x="7275881" y="3701857"/>
            <a:ext cx="124358" cy="83942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36" name="wc2_d"/>
          <p:cNvSpPr/>
          <p:nvPr/>
        </p:nvSpPr>
        <p:spPr>
          <a:xfrm>
            <a:off x="7143750" y="3785799"/>
            <a:ext cx="388620" cy="39173"/>
          </a:xfrm>
          <a:prstGeom prst="rect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37" name="wc2_l"/>
          <p:cNvSpPr txBox="1"/>
          <p:nvPr/>
        </p:nvSpPr>
        <p:spPr>
          <a:xfrm>
            <a:off x="6675120" y="3897173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</a:t>
            </a:r>
            <a:endParaRPr lang="en-US" sz="1000" dirty="0"/>
          </a:p>
        </p:txBody>
      </p:sp>
      <p:sp>
        <p:nvSpPr>
          <p:cNvPr id="38" name="pt"/>
          <p:cNvSpPr txBox="1"/>
          <p:nvPr/>
        </p:nvSpPr>
        <p:spPr>
          <a:xfrm>
            <a:off x="265176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2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pthread_create()</a:t>
            </a:r>
            <a:endParaRPr lang="en-US" sz="950" dirty="0"/>
          </a:p>
        </p:txBody>
      </p:sp>
      <p:sp>
        <p:nvSpPr>
          <p:cNvPr id="39" name="alt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1F5F7"/>
          </a:solidFill>
          <a:ln w="9525">
            <a:solidFill>
              <a:srgbClr val="F1F5F7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fork() a process per client, or one thread watching many sockets with select() / poll() / epoll(). Compile with:  gcc -pthread ...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7" grpId="0" animBg="1"/>
      <p:bldP spid="20" grpId="0" animBg="1"/>
      <p:bldP spid="21" grpId="0" animBg="1"/>
      <p:bldP spid="27" grpId="0" animBg="1"/>
      <p:bldP spid="30" grpId="0" animBg="1"/>
      <p:bldP spid="31" grpId="0" animBg="1"/>
      <p:bldP spid="37" grpId="0" animBg="1"/>
      <p:bldP spid="38" grpId="0" animBg="1"/>
      <p:bldP spid="3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anyone can connect to an open port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everything that arrives as untrusted</a:t>
            </a:r>
            <a:endParaRPr lang="en-US" sz="1300" dirty="0"/>
          </a:p>
        </p:txBody>
      </p:sp>
      <p:sp>
        <p:nvSpPr>
          <p:cNvPr id="4" name="s0"/>
          <p:cNvSpPr/>
          <p:nvPr/>
        </p:nvSpPr>
        <p:spPr>
          <a:xfrm>
            <a:off x="457200" y="12344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5" name="si0"/>
          <p:cNvSpPr/>
          <p:nvPr/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t0"/>
          <p:cNvSpPr txBox="1"/>
          <p:nvPr/>
        </p:nvSpPr>
        <p:spPr>
          <a:xfrm>
            <a:off x="1097280" y="1417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350" dirty="0"/>
          </a:p>
        </p:txBody>
      </p:sp>
      <p:sp>
        <p:nvSpPr>
          <p:cNvPr id="7" name="sd0"/>
          <p:cNvSpPr txBox="1"/>
          <p:nvPr/>
        </p:nvSpPr>
        <p:spPr>
          <a:xfrm>
            <a:off x="594360" y="18745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assume received data is a valid string, a sane length or a friendly command.</a:t>
            </a:r>
            <a:endParaRPr lang="en-US" sz="1050" dirty="0"/>
          </a:p>
        </p:txBody>
      </p:sp>
      <p:sp>
        <p:nvSpPr>
          <p:cNvPr id="8" name="s1"/>
          <p:cNvSpPr/>
          <p:nvPr/>
        </p:nvSpPr>
        <p:spPr>
          <a:xfrm>
            <a:off x="3246120" y="12344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9" name="si1"/>
          <p:cNvSpPr/>
          <p:nvPr/>
        </p:nvSpPr>
        <p:spPr>
          <a:xfrm>
            <a:off x="3383280" y="1371600"/>
            <a:ext cx="411480" cy="411480"/>
          </a:xfrm>
          <a:prstGeom prst="ellipse">
            <a:avLst/>
          </a:prstGeom>
          <a:solidFill>
            <a:srgbClr val="E07A2F"/>
          </a:solidFill>
          <a:ln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t1"/>
          <p:cNvSpPr txBox="1"/>
          <p:nvPr/>
        </p:nvSpPr>
        <p:spPr>
          <a:xfrm>
            <a:off x="3886200" y="1417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buffer overflows</a:t>
            </a:r>
            <a:endParaRPr lang="en-US" sz="1350" dirty="0"/>
          </a:p>
        </p:txBody>
      </p:sp>
      <p:sp>
        <p:nvSpPr>
          <p:cNvPr id="11" name="sd1"/>
          <p:cNvSpPr txBox="1"/>
          <p:nvPr/>
        </p:nvSpPr>
        <p:spPr>
          <a:xfrm>
            <a:off x="3383280" y="18745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real buffer size to recv(), leave room for '\0', never strcpy() received data.</a:t>
            </a:r>
            <a:endParaRPr lang="en-US" sz="1050" dirty="0"/>
          </a:p>
        </p:txBody>
      </p:sp>
      <p:sp>
        <p:nvSpPr>
          <p:cNvPr id="12" name="s2"/>
          <p:cNvSpPr/>
          <p:nvPr/>
        </p:nvSpPr>
        <p:spPr>
          <a:xfrm>
            <a:off x="6035040" y="12344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3" name="si2"/>
          <p:cNvSpPr/>
          <p:nvPr/>
        </p:nvSpPr>
        <p:spPr>
          <a:xfrm>
            <a:off x="6172200" y="1371600"/>
            <a:ext cx="411480" cy="411480"/>
          </a:xfrm>
          <a:prstGeom prst="ellipse">
            <a:avLst/>
          </a:prstGeom>
          <a:solidFill>
            <a:srgbClr val="6C4AB6"/>
          </a:solidFill>
          <a:ln>
            <a:solidFill>
              <a:srgbClr val="6C4A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t2"/>
          <p:cNvSpPr txBox="1"/>
          <p:nvPr/>
        </p:nvSpPr>
        <p:spPr>
          <a:xfrm>
            <a:off x="6675120" y="1417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less</a:t>
            </a:r>
            <a:endParaRPr lang="en-US" sz="1350" dirty="0"/>
          </a:p>
        </p:txBody>
      </p:sp>
      <p:sp>
        <p:nvSpPr>
          <p:cNvPr id="15" name="sd2"/>
          <p:cNvSpPr txBox="1"/>
          <p:nvPr/>
        </p:nvSpPr>
        <p:spPr>
          <a:xfrm>
            <a:off x="6172200" y="18745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to 127.0.0.1 while developing; open firewall ports only where needed.</a:t>
            </a:r>
            <a:endParaRPr lang="en-US" sz="1050" dirty="0"/>
          </a:p>
        </p:txBody>
      </p:sp>
      <p:sp>
        <p:nvSpPr>
          <p:cNvPr id="16" name="s3"/>
          <p:cNvSpPr/>
          <p:nvPr/>
        </p:nvSpPr>
        <p:spPr>
          <a:xfrm>
            <a:off x="457200" y="29260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7" name="si3"/>
          <p:cNvSpPr/>
          <p:nvPr/>
        </p:nvSpPr>
        <p:spPr>
          <a:xfrm>
            <a:off x="594360" y="3063240"/>
            <a:ext cx="411480" cy="411480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t3"/>
          <p:cNvSpPr txBox="1"/>
          <p:nvPr/>
        </p:nvSpPr>
        <p:spPr>
          <a:xfrm>
            <a:off x="109728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350" dirty="0"/>
          </a:p>
        </p:txBody>
      </p:sp>
      <p:sp>
        <p:nvSpPr>
          <p:cNvPr id="19" name="sd3"/>
          <p:cNvSpPr txBox="1"/>
          <p:nvPr/>
        </p:nvSpPr>
        <p:spPr>
          <a:xfrm>
            <a:off x="594360" y="35661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TCP is clear text. Use TLS (OpenSSL) for passwords and personal data.</a:t>
            </a:r>
            <a:endParaRPr lang="en-US" sz="1050" dirty="0"/>
          </a:p>
        </p:txBody>
      </p:sp>
      <p:sp>
        <p:nvSpPr>
          <p:cNvPr id="20" name="s4"/>
          <p:cNvSpPr/>
          <p:nvPr/>
        </p:nvSpPr>
        <p:spPr>
          <a:xfrm>
            <a:off x="3246120" y="29260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1" name="si4"/>
          <p:cNvSpPr/>
          <p:nvPr/>
        </p:nvSpPr>
        <p:spPr>
          <a:xfrm>
            <a:off x="3383280" y="3063240"/>
            <a:ext cx="411480" cy="411480"/>
          </a:xfrm>
          <a:prstGeom prst="ellipse">
            <a:avLst/>
          </a:prstGeom>
          <a:solidFill>
            <a:srgbClr val="123C4E"/>
          </a:solidFill>
          <a:ln>
            <a:solidFill>
              <a:srgbClr val="123C4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t4"/>
          <p:cNvSpPr txBox="1"/>
          <p:nvPr/>
        </p:nvSpPr>
        <p:spPr>
          <a:xfrm>
            <a:off x="388620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350" dirty="0"/>
          </a:p>
        </p:txBody>
      </p:sp>
      <p:sp>
        <p:nvSpPr>
          <p:cNvPr id="23" name="sd4"/>
          <p:cNvSpPr txBox="1"/>
          <p:nvPr/>
        </p:nvSpPr>
        <p:spPr>
          <a:xfrm>
            <a:off x="3383280" y="35661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proves nothing - require a login or token where it matters.</a:t>
            </a:r>
            <a:endParaRPr lang="en-US" sz="1050" dirty="0"/>
          </a:p>
        </p:txBody>
      </p:sp>
      <p:sp>
        <p:nvSpPr>
          <p:cNvPr id="24" name="s5"/>
          <p:cNvSpPr/>
          <p:nvPr/>
        </p:nvSpPr>
        <p:spPr>
          <a:xfrm>
            <a:off x="6035040" y="29260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5" name="si5"/>
          <p:cNvSpPr/>
          <p:nvPr/>
        </p:nvSpPr>
        <p:spPr>
          <a:xfrm>
            <a:off x="6172200" y="3063240"/>
            <a:ext cx="411480" cy="411480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st5"/>
          <p:cNvSpPr txBox="1"/>
          <p:nvPr/>
        </p:nvSpPr>
        <p:spPr>
          <a:xfrm>
            <a:off x="667512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resources</a:t>
            </a:r>
            <a:endParaRPr lang="en-US" sz="1350" dirty="0"/>
          </a:p>
        </p:txBody>
      </p:sp>
      <p:sp>
        <p:nvSpPr>
          <p:cNvPr id="27" name="sd5"/>
          <p:cNvSpPr txBox="1"/>
          <p:nvPr/>
        </p:nvSpPr>
        <p:spPr>
          <a:xfrm>
            <a:off x="6172200" y="35661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Timeouts, max connections, max message size - so one client can't exhaust the server.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Sockets are everywhere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built on the calls we have just seen</a:t>
            </a:r>
            <a:endParaRPr lang="en-US" sz="1300" dirty="0"/>
          </a:p>
        </p:txBody>
      </p:sp>
      <p:sp>
        <p:nvSpPr>
          <p:cNvPr id="4" name="a0"/>
          <p:cNvSpPr/>
          <p:nvPr/>
        </p:nvSpPr>
        <p:spPr>
          <a:xfrm>
            <a:off x="457200" y="1188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at0"/>
          <p:cNvSpPr/>
          <p:nvPr/>
        </p:nvSpPr>
        <p:spPr>
          <a:xfrm>
            <a:off x="1764792" y="1280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900" dirty="0"/>
          </a:p>
        </p:txBody>
      </p:sp>
      <p:sp>
        <p:nvSpPr>
          <p:cNvPr id="6" name="an0"/>
          <p:cNvSpPr txBox="1"/>
          <p:nvPr/>
        </p:nvSpPr>
        <p:spPr>
          <a:xfrm>
            <a:off x="566928" y="1298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browsing</a:t>
            </a:r>
            <a:endParaRPr lang="en-US" sz="1200" dirty="0"/>
          </a:p>
        </p:txBody>
      </p:sp>
      <p:sp>
        <p:nvSpPr>
          <p:cNvPr id="7" name="ad0"/>
          <p:cNvSpPr txBox="1"/>
          <p:nvPr/>
        </p:nvSpPr>
        <p:spPr>
          <a:xfrm>
            <a:off x="566928" y="1792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 port 80 / 443</a:t>
            </a:r>
            <a:endParaRPr lang="en-US" sz="950" dirty="0"/>
          </a:p>
        </p:txBody>
      </p:sp>
      <p:sp>
        <p:nvSpPr>
          <p:cNvPr id="8" name="a1"/>
          <p:cNvSpPr/>
          <p:nvPr/>
        </p:nvSpPr>
        <p:spPr>
          <a:xfrm>
            <a:off x="2560320" y="1188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at1"/>
          <p:cNvSpPr/>
          <p:nvPr/>
        </p:nvSpPr>
        <p:spPr>
          <a:xfrm>
            <a:off x="3867912" y="1280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900" dirty="0"/>
          </a:p>
        </p:txBody>
      </p:sp>
      <p:sp>
        <p:nvSpPr>
          <p:cNvPr id="10" name="an1"/>
          <p:cNvSpPr txBox="1"/>
          <p:nvPr/>
        </p:nvSpPr>
        <p:spPr>
          <a:xfrm>
            <a:off x="2670048" y="1298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1" name="ad1"/>
          <p:cNvSpPr txBox="1"/>
          <p:nvPr/>
        </p:nvSpPr>
        <p:spPr>
          <a:xfrm>
            <a:off x="2670048" y="1792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SMTP, IMAP, POP3</a:t>
            </a:r>
            <a:endParaRPr lang="en-US" sz="950" dirty="0"/>
          </a:p>
        </p:txBody>
      </p:sp>
      <p:sp>
        <p:nvSpPr>
          <p:cNvPr id="12" name="a2"/>
          <p:cNvSpPr/>
          <p:nvPr/>
        </p:nvSpPr>
        <p:spPr>
          <a:xfrm>
            <a:off x="4663440" y="1188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at2"/>
          <p:cNvSpPr/>
          <p:nvPr/>
        </p:nvSpPr>
        <p:spPr>
          <a:xfrm>
            <a:off x="5971032" y="1280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900" dirty="0"/>
          </a:p>
        </p:txBody>
      </p:sp>
      <p:sp>
        <p:nvSpPr>
          <p:cNvPr id="14" name="an2"/>
          <p:cNvSpPr txBox="1"/>
          <p:nvPr/>
        </p:nvSpPr>
        <p:spPr>
          <a:xfrm>
            <a:off x="4773168" y="1298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apps</a:t>
            </a:r>
            <a:endParaRPr lang="en-US" sz="1200" dirty="0"/>
          </a:p>
        </p:txBody>
      </p:sp>
      <p:sp>
        <p:nvSpPr>
          <p:cNvPr id="15" name="ad2"/>
          <p:cNvSpPr txBox="1"/>
          <p:nvPr/>
        </p:nvSpPr>
        <p:spPr>
          <a:xfrm>
            <a:off x="4773168" y="1792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forwards messages</a:t>
            </a:r>
            <a:endParaRPr lang="en-US" sz="950" dirty="0"/>
          </a:p>
        </p:txBody>
      </p:sp>
      <p:sp>
        <p:nvSpPr>
          <p:cNvPr id="16" name="a3"/>
          <p:cNvSpPr/>
          <p:nvPr/>
        </p:nvSpPr>
        <p:spPr>
          <a:xfrm>
            <a:off x="6766560" y="1188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at3"/>
          <p:cNvSpPr/>
          <p:nvPr/>
        </p:nvSpPr>
        <p:spPr>
          <a:xfrm>
            <a:off x="8074152" y="1280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900" dirty="0"/>
          </a:p>
        </p:txBody>
      </p:sp>
      <p:sp>
        <p:nvSpPr>
          <p:cNvPr id="18" name="an3"/>
          <p:cNvSpPr txBox="1"/>
          <p:nvPr/>
        </p:nvSpPr>
        <p:spPr>
          <a:xfrm>
            <a:off x="6876288" y="1298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</a:t>
            </a:r>
            <a:endParaRPr lang="en-US" sz="1200" dirty="0"/>
          </a:p>
        </p:txBody>
      </p:sp>
      <p:sp>
        <p:nvSpPr>
          <p:cNvPr id="19" name="ad3"/>
          <p:cNvSpPr txBox="1"/>
          <p:nvPr/>
        </p:nvSpPr>
        <p:spPr>
          <a:xfrm>
            <a:off x="6876288" y="1792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FTP, SFTP, custom tools</a:t>
            </a:r>
            <a:endParaRPr lang="en-US" sz="950" dirty="0"/>
          </a:p>
        </p:txBody>
      </p:sp>
      <p:sp>
        <p:nvSpPr>
          <p:cNvPr id="20" name="a4"/>
          <p:cNvSpPr/>
          <p:nvPr/>
        </p:nvSpPr>
        <p:spPr>
          <a:xfrm>
            <a:off x="457200" y="2331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E07A2F"/>
            </a:solidFill>
            <a:prstDash val="solid"/>
          </a:ln>
        </p:spPr>
      </p:sp>
      <p:sp>
        <p:nvSpPr>
          <p:cNvPr id="21" name="at4"/>
          <p:cNvSpPr/>
          <p:nvPr/>
        </p:nvSpPr>
        <p:spPr>
          <a:xfrm>
            <a:off x="1764792" y="2423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9525"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900" dirty="0"/>
          </a:p>
        </p:txBody>
      </p:sp>
      <p:sp>
        <p:nvSpPr>
          <p:cNvPr id="22" name="an4"/>
          <p:cNvSpPr txBox="1"/>
          <p:nvPr/>
        </p:nvSpPr>
        <p:spPr>
          <a:xfrm>
            <a:off x="566928" y="2441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games</a:t>
            </a:r>
            <a:endParaRPr lang="en-US" sz="1200" dirty="0"/>
          </a:p>
        </p:txBody>
      </p:sp>
      <p:sp>
        <p:nvSpPr>
          <p:cNvPr id="23" name="ad4"/>
          <p:cNvSpPr txBox="1"/>
          <p:nvPr/>
        </p:nvSpPr>
        <p:spPr>
          <a:xfrm>
            <a:off x="566928" y="2935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positions many times/s</a:t>
            </a:r>
            <a:endParaRPr lang="en-US" sz="950" dirty="0"/>
          </a:p>
        </p:txBody>
      </p:sp>
      <p:sp>
        <p:nvSpPr>
          <p:cNvPr id="24" name="a5"/>
          <p:cNvSpPr/>
          <p:nvPr/>
        </p:nvSpPr>
        <p:spPr>
          <a:xfrm>
            <a:off x="2560320" y="2331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E07A2F"/>
            </a:solidFill>
            <a:prstDash val="solid"/>
          </a:ln>
        </p:spPr>
      </p:sp>
      <p:sp>
        <p:nvSpPr>
          <p:cNvPr id="25" name="at5"/>
          <p:cNvSpPr/>
          <p:nvPr/>
        </p:nvSpPr>
        <p:spPr>
          <a:xfrm>
            <a:off x="3867912" y="2423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9525"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900" dirty="0"/>
          </a:p>
        </p:txBody>
      </p:sp>
      <p:sp>
        <p:nvSpPr>
          <p:cNvPr id="26" name="an5"/>
          <p:cNvSpPr txBox="1"/>
          <p:nvPr/>
        </p:nvSpPr>
        <p:spPr>
          <a:xfrm>
            <a:off x="2670048" y="2441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video</a:t>
            </a:r>
            <a:endParaRPr lang="en-US" sz="1200" dirty="0"/>
          </a:p>
        </p:txBody>
      </p:sp>
      <p:sp>
        <p:nvSpPr>
          <p:cNvPr id="27" name="ad5"/>
          <p:cNvSpPr txBox="1"/>
          <p:nvPr/>
        </p:nvSpPr>
        <p:spPr>
          <a:xfrm>
            <a:off x="2670048" y="2935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packets are useless</a:t>
            </a:r>
            <a:endParaRPr lang="en-US" sz="950" dirty="0"/>
          </a:p>
        </p:txBody>
      </p:sp>
      <p:sp>
        <p:nvSpPr>
          <p:cNvPr id="28" name="a6"/>
          <p:cNvSpPr/>
          <p:nvPr/>
        </p:nvSpPr>
        <p:spPr>
          <a:xfrm>
            <a:off x="4663440" y="2331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E07A2F"/>
            </a:solidFill>
            <a:prstDash val="solid"/>
          </a:ln>
        </p:spPr>
      </p:sp>
      <p:sp>
        <p:nvSpPr>
          <p:cNvPr id="29" name="at6"/>
          <p:cNvSpPr/>
          <p:nvPr/>
        </p:nvSpPr>
        <p:spPr>
          <a:xfrm>
            <a:off x="5971032" y="2423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9525"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900" dirty="0"/>
          </a:p>
        </p:txBody>
      </p:sp>
      <p:sp>
        <p:nvSpPr>
          <p:cNvPr id="30" name="an6"/>
          <p:cNvSpPr txBox="1"/>
          <p:nvPr/>
        </p:nvSpPr>
        <p:spPr>
          <a:xfrm>
            <a:off x="4773168" y="2441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200" dirty="0"/>
          </a:p>
        </p:txBody>
      </p:sp>
      <p:sp>
        <p:nvSpPr>
          <p:cNvPr id="31" name="ad6"/>
          <p:cNvSpPr txBox="1"/>
          <p:nvPr/>
        </p:nvSpPr>
        <p:spPr>
          <a:xfrm>
            <a:off x="4773168" y="2935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query, one reply</a:t>
            </a:r>
            <a:endParaRPr lang="en-US" sz="950" dirty="0"/>
          </a:p>
        </p:txBody>
      </p:sp>
      <p:sp>
        <p:nvSpPr>
          <p:cNvPr id="32" name="a7"/>
          <p:cNvSpPr/>
          <p:nvPr/>
        </p:nvSpPr>
        <p:spPr>
          <a:xfrm>
            <a:off x="6766560" y="2331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E07A2F"/>
            </a:solidFill>
            <a:prstDash val="solid"/>
          </a:ln>
        </p:spPr>
      </p:sp>
      <p:sp>
        <p:nvSpPr>
          <p:cNvPr id="33" name="at7"/>
          <p:cNvSpPr/>
          <p:nvPr/>
        </p:nvSpPr>
        <p:spPr>
          <a:xfrm>
            <a:off x="8074152" y="2423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9525"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900" dirty="0"/>
          </a:p>
        </p:txBody>
      </p:sp>
      <p:sp>
        <p:nvSpPr>
          <p:cNvPr id="34" name="an7"/>
          <p:cNvSpPr txBox="1"/>
          <p:nvPr/>
        </p:nvSpPr>
        <p:spPr>
          <a:xfrm>
            <a:off x="6876288" y="2441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200" dirty="0"/>
          </a:p>
        </p:txBody>
      </p:sp>
      <p:sp>
        <p:nvSpPr>
          <p:cNvPr id="35" name="ad7"/>
          <p:cNvSpPr txBox="1"/>
          <p:nvPr/>
        </p:nvSpPr>
        <p:spPr>
          <a:xfrm>
            <a:off x="6876288" y="2935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readings, low power</a:t>
            </a:r>
            <a:endParaRPr lang="en-US" sz="950" dirty="0"/>
          </a:p>
        </p:txBody>
      </p:sp>
      <p:sp>
        <p:nvSpPr>
          <p:cNvPr id="36" name="a8"/>
          <p:cNvSpPr/>
          <p:nvPr/>
        </p:nvSpPr>
        <p:spPr>
          <a:xfrm>
            <a:off x="457200" y="3474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7" name="at8"/>
          <p:cNvSpPr/>
          <p:nvPr/>
        </p:nvSpPr>
        <p:spPr>
          <a:xfrm>
            <a:off x="1764792" y="3566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900" dirty="0"/>
          </a:p>
        </p:txBody>
      </p:sp>
      <p:sp>
        <p:nvSpPr>
          <p:cNvPr id="38" name="an8"/>
          <p:cNvSpPr txBox="1"/>
          <p:nvPr/>
        </p:nvSpPr>
        <p:spPr>
          <a:xfrm>
            <a:off x="566928" y="3584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39" name="ad8"/>
          <p:cNvSpPr txBox="1"/>
          <p:nvPr/>
        </p:nvSpPr>
        <p:spPr>
          <a:xfrm>
            <a:off x="566928" y="4078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3306, PostgreSQL 5432</a:t>
            </a:r>
            <a:endParaRPr lang="en-US" sz="950" dirty="0"/>
          </a:p>
        </p:txBody>
      </p:sp>
      <p:sp>
        <p:nvSpPr>
          <p:cNvPr id="40" name="a9"/>
          <p:cNvSpPr/>
          <p:nvPr/>
        </p:nvSpPr>
        <p:spPr>
          <a:xfrm>
            <a:off x="2560320" y="3474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41" name="at9"/>
          <p:cNvSpPr/>
          <p:nvPr/>
        </p:nvSpPr>
        <p:spPr>
          <a:xfrm>
            <a:off x="3867912" y="3566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900" dirty="0"/>
          </a:p>
        </p:txBody>
      </p:sp>
      <p:sp>
        <p:nvSpPr>
          <p:cNvPr id="42" name="an9"/>
          <p:cNvSpPr txBox="1"/>
          <p:nvPr/>
        </p:nvSpPr>
        <p:spPr>
          <a:xfrm>
            <a:off x="2670048" y="3584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</a:t>
            </a:r>
            <a:endParaRPr lang="en-US" sz="1200" dirty="0"/>
          </a:p>
        </p:txBody>
      </p:sp>
      <p:sp>
        <p:nvSpPr>
          <p:cNvPr id="43" name="ad9"/>
          <p:cNvSpPr txBox="1"/>
          <p:nvPr/>
        </p:nvSpPr>
        <p:spPr>
          <a:xfrm>
            <a:off x="2670048" y="4078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on port 22</a:t>
            </a:r>
            <a:endParaRPr lang="en-US" sz="950" dirty="0"/>
          </a:p>
        </p:txBody>
      </p:sp>
      <p:sp>
        <p:nvSpPr>
          <p:cNvPr id="44" name="a10"/>
          <p:cNvSpPr/>
          <p:nvPr/>
        </p:nvSpPr>
        <p:spPr>
          <a:xfrm>
            <a:off x="4663440" y="3474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45" name="at10"/>
          <p:cNvSpPr/>
          <p:nvPr/>
        </p:nvSpPr>
        <p:spPr>
          <a:xfrm>
            <a:off x="5971032" y="3566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900" dirty="0"/>
          </a:p>
        </p:txBody>
      </p:sp>
      <p:sp>
        <p:nvSpPr>
          <p:cNvPr id="46" name="an10"/>
          <p:cNvSpPr txBox="1"/>
          <p:nvPr/>
        </p:nvSpPr>
        <p:spPr>
          <a:xfrm>
            <a:off x="4773168" y="3584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streaming</a:t>
            </a:r>
            <a:endParaRPr lang="en-US" sz="1200" dirty="0"/>
          </a:p>
        </p:txBody>
      </p:sp>
      <p:sp>
        <p:nvSpPr>
          <p:cNvPr id="47" name="ad10"/>
          <p:cNvSpPr txBox="1"/>
          <p:nvPr/>
        </p:nvSpPr>
        <p:spPr>
          <a:xfrm>
            <a:off x="4773168" y="4078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buffered, ordered</a:t>
            </a:r>
            <a:endParaRPr lang="en-US" sz="950" dirty="0"/>
          </a:p>
        </p:txBody>
      </p:sp>
      <p:sp>
        <p:nvSpPr>
          <p:cNvPr id="48" name="a11"/>
          <p:cNvSpPr/>
          <p:nvPr/>
        </p:nvSpPr>
        <p:spPr>
          <a:xfrm>
            <a:off x="6766560" y="34747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49" name="at11"/>
          <p:cNvSpPr/>
          <p:nvPr/>
        </p:nvSpPr>
        <p:spPr>
          <a:xfrm>
            <a:off x="8074152" y="3566160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900" dirty="0"/>
          </a:p>
        </p:txBody>
      </p:sp>
      <p:sp>
        <p:nvSpPr>
          <p:cNvPr id="50" name="an11"/>
          <p:cNvSpPr txBox="1"/>
          <p:nvPr/>
        </p:nvSpPr>
        <p:spPr>
          <a:xfrm>
            <a:off x="6876288" y="3584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3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</a:t>
            </a:r>
            <a:endParaRPr lang="en-US" sz="1200" dirty="0"/>
          </a:p>
        </p:txBody>
      </p:sp>
      <p:sp>
        <p:nvSpPr>
          <p:cNvPr id="51" name="ad11"/>
          <p:cNvSpPr txBox="1"/>
          <p:nvPr/>
        </p:nvSpPr>
        <p:spPr>
          <a:xfrm>
            <a:off x="6876288" y="4078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queues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TCP (reliability matters)     Orange = UDP (speed matters)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sockets are worth learning - and what they leave to you</a:t>
            </a:r>
            <a:endParaRPr lang="en-US" sz="1300" dirty="0"/>
          </a:p>
        </p:txBody>
      </p:sp>
      <p:sp>
        <p:nvSpPr>
          <p:cNvPr id="4" name="adv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E8F4F1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" name="advt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6" name="advb"/>
          <p:cNvSpPr txBox="1"/>
          <p:nvPr/>
        </p:nvSpPr>
        <p:spPr>
          <a:xfrm>
            <a:off x="640080" y="17373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- same API on Linux, Windows (Winsock), macOS, Android, embedded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- TCP and UDP, IPv4 and IPv6, local or across the Internet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- direct access to the transport layer, no framework overhead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- HTTP libraries, database drivers and game engines all sit on top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(POSIX) and extremely well documented</a:t>
            </a:r>
            <a:endParaRPr lang="en-US" sz="1150" dirty="0"/>
          </a:p>
        </p:txBody>
      </p:sp>
      <p:sp>
        <p:nvSpPr>
          <p:cNvPr id="7" name="lim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DF1E7"/>
          </a:solidFill>
          <a:ln w="9525">
            <a:solidFill>
              <a:srgbClr val="E07A2F"/>
            </a:solidFill>
            <a:prstDash val="solid"/>
          </a:ln>
        </p:spPr>
      </p:sp>
      <p:sp>
        <p:nvSpPr>
          <p:cNvPr id="8" name="limt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9" name="limb"/>
          <p:cNvSpPr txBox="1"/>
          <p:nvPr/>
        </p:nvSpPr>
        <p:spPr>
          <a:xfrm>
            <a:off x="4846320" y="17373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 - you handle framing, partial sends, timeouts and closure yourself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can fail, so error handling is everywhere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is manual - threads, processes or event loops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built in - encryption and authentication are separate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annoying differences between POSIX and Winsock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 that cover almost everything</a:t>
            </a:r>
            <a:endParaRPr lang="en-US" sz="1300" dirty="0"/>
          </a:p>
        </p:txBody>
      </p:sp>
      <p:sp>
        <p:nvSpPr>
          <p:cNvPr id="4" name="p0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5" name="pi0"/>
          <p:cNvSpPr/>
          <p:nvPr/>
        </p:nvSpPr>
        <p:spPr>
          <a:xfrm>
            <a:off x="594360" y="1298448"/>
            <a:ext cx="384048" cy="384048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pt0"/>
          <p:cNvSpPr txBox="1"/>
          <p:nvPr/>
        </p:nvSpPr>
        <p:spPr>
          <a:xfrm>
            <a:off x="1143000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socket is an endpoint</a:t>
            </a:r>
            <a:endParaRPr lang="en-US" sz="1350" dirty="0"/>
          </a:p>
        </p:txBody>
      </p:sp>
      <p:sp>
        <p:nvSpPr>
          <p:cNvPr id="7" name="pd0"/>
          <p:cNvSpPr txBox="1"/>
          <p:nvPr/>
        </p:nvSpPr>
        <p:spPr>
          <a:xfrm>
            <a:off x="1143000" y="151790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+ port + protocol. To C it is just an int.</a:t>
            </a:r>
            <a:endParaRPr lang="en-US" sz="1050" dirty="0"/>
          </a:p>
        </p:txBody>
      </p:sp>
      <p:sp>
        <p:nvSpPr>
          <p:cNvPr id="8" name="p1"/>
          <p:cNvSpPr/>
          <p:nvPr/>
        </p:nvSpPr>
        <p:spPr>
          <a:xfrm>
            <a:off x="457200" y="188366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9" name="pi1"/>
          <p:cNvSpPr/>
          <p:nvPr/>
        </p:nvSpPr>
        <p:spPr>
          <a:xfrm>
            <a:off x="594360" y="1993392"/>
            <a:ext cx="384048" cy="384048"/>
          </a:xfrm>
          <a:prstGeom prst="ellipse">
            <a:avLst/>
          </a:prstGeom>
          <a:solidFill>
            <a:srgbClr val="E07A2F"/>
          </a:solidFill>
          <a:ln>
            <a:solidFill>
              <a:srgbClr val="E07A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pt1"/>
          <p:cNvSpPr txBox="1"/>
          <p:nvPr/>
        </p:nvSpPr>
        <p:spPr>
          <a:xfrm>
            <a:off x="1143000" y="1947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wait, clients start</a:t>
            </a:r>
            <a:endParaRPr lang="en-US" sz="1350" dirty="0"/>
          </a:p>
        </p:txBody>
      </p:sp>
      <p:sp>
        <p:nvSpPr>
          <p:cNvPr id="11" name="pd1"/>
          <p:cNvSpPr txBox="1"/>
          <p:nvPr/>
        </p:nvSpPr>
        <p:spPr>
          <a:xfrm>
            <a:off x="1143000" y="22128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socket, bind, listen, accept  vs  socket, connect</a:t>
            </a:r>
            <a:endParaRPr lang="en-US" sz="1050" dirty="0"/>
          </a:p>
        </p:txBody>
      </p:sp>
      <p:sp>
        <p:nvSpPr>
          <p:cNvPr id="12" name="p2"/>
          <p:cNvSpPr/>
          <p:nvPr/>
        </p:nvSpPr>
        <p:spPr>
          <a:xfrm>
            <a:off x="457200" y="25786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3" name="pi2"/>
          <p:cNvSpPr/>
          <p:nvPr/>
        </p:nvSpPr>
        <p:spPr>
          <a:xfrm>
            <a:off x="594360" y="2688336"/>
            <a:ext cx="384048" cy="384048"/>
          </a:xfrm>
          <a:prstGeom prst="ellipse">
            <a:avLst/>
          </a:prstGeom>
          <a:solidFill>
            <a:srgbClr val="6C4AB6"/>
          </a:solidFill>
          <a:ln>
            <a:solidFill>
              <a:srgbClr val="6C4A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pt2"/>
          <p:cNvSpPr txBox="1"/>
          <p:nvPr/>
        </p:nvSpPr>
        <p:spPr>
          <a:xfrm>
            <a:off x="1143000" y="2642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= reliable stream, UDP = fast datagrams</a:t>
            </a:r>
            <a:endParaRPr lang="en-US" sz="1350" dirty="0"/>
          </a:p>
        </p:txBody>
      </p:sp>
      <p:sp>
        <p:nvSpPr>
          <p:cNvPr id="15" name="pd2"/>
          <p:cNvSpPr txBox="1"/>
          <p:nvPr/>
        </p:nvSpPr>
        <p:spPr>
          <a:xfrm>
            <a:off x="1143000" y="290779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/ send / recv  vs  sendto / recvfrom</a:t>
            </a:r>
            <a:endParaRPr lang="en-US" sz="1050" dirty="0"/>
          </a:p>
        </p:txBody>
      </p:sp>
      <p:sp>
        <p:nvSpPr>
          <p:cNvPr id="16" name="p3"/>
          <p:cNvSpPr/>
          <p:nvPr/>
        </p:nvSpPr>
        <p:spPr>
          <a:xfrm>
            <a:off x="457200" y="32735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17" name="pi3"/>
          <p:cNvSpPr/>
          <p:nvPr/>
        </p:nvSpPr>
        <p:spPr>
          <a:xfrm>
            <a:off x="594360" y="3383280"/>
            <a:ext cx="384048" cy="384048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pt3"/>
          <p:cNvSpPr txBox="1"/>
          <p:nvPr/>
        </p:nvSpPr>
        <p:spPr>
          <a:xfrm>
            <a:off x="114300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that bite</a:t>
            </a:r>
            <a:endParaRPr lang="en-US" sz="1350" dirty="0"/>
          </a:p>
        </p:txBody>
      </p:sp>
      <p:sp>
        <p:nvSpPr>
          <p:cNvPr id="19" name="pd3"/>
          <p:cNvSpPr txBox="1"/>
          <p:nvPr/>
        </p:nvSpPr>
        <p:spPr>
          <a:xfrm>
            <a:off x="1143000" y="360273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htons(), memset(), '\0' after recv(), recv() == 0, close both sockets</a:t>
            </a:r>
            <a:endParaRPr lang="en-US" sz="1050" dirty="0"/>
          </a:p>
        </p:txBody>
      </p:sp>
      <p:sp>
        <p:nvSpPr>
          <p:cNvPr id="20" name="p4"/>
          <p:cNvSpPr/>
          <p:nvPr/>
        </p:nvSpPr>
        <p:spPr>
          <a:xfrm>
            <a:off x="457200" y="396849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</p:spPr>
      </p:sp>
      <p:sp>
        <p:nvSpPr>
          <p:cNvPr id="21" name="pi4"/>
          <p:cNvSpPr/>
          <p:nvPr/>
        </p:nvSpPr>
        <p:spPr>
          <a:xfrm>
            <a:off x="594360" y="4078224"/>
            <a:ext cx="384048" cy="384048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pt4"/>
          <p:cNvSpPr txBox="1"/>
          <p:nvPr/>
        </p:nvSpPr>
        <p:spPr>
          <a:xfrm>
            <a:off x="1143000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servers do more</a:t>
            </a:r>
            <a:endParaRPr lang="en-US" sz="1350" dirty="0"/>
          </a:p>
        </p:txBody>
      </p:sp>
      <p:sp>
        <p:nvSpPr>
          <p:cNvPr id="23" name="pd4"/>
          <p:cNvSpPr txBox="1"/>
          <p:nvPr/>
        </p:nvSpPr>
        <p:spPr>
          <a:xfrm>
            <a:off x="1143000" y="429768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framing, timeouts, one thread per client, and never trust the input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3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- questions?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report: Socket Programming in C - Group Coursework (34 pages, five complete programs)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Stevens, Fenner &amp; Rudoff (2004) UNIX Network Programming, Vol. 1: The Sockets Networking API, 3rd edn.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Kerrisk (2010) The Linux Programming Interface, ch. 56-61.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Hall, B. - Beej's Guide to Network Programming (beej.us/guide/bgnet).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Kurose &amp; Ross (2021) Computer Networking: A Top-Down Approach, 8th edn.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9293 (TCP), RFC 768 (UDP); Linux man-pages: socket(2), bind(2), listen(2), accept(2), connect(2).</a:t>
            </a:r>
            <a:endParaRPr lang="en-US" sz="1100" dirty="0"/>
          </a:p>
        </p:txBody>
      </p:sp>
      <p:sp>
        <p:nvSpPr>
          <p:cNvPr id="6" name="s_a"/>
          <p:cNvSpPr/>
          <p:nvPr/>
        </p:nvSpPr>
        <p:spPr>
          <a:xfrm>
            <a:off x="7589520" y="3840480"/>
            <a:ext cx="822960" cy="414772"/>
          </a:xfrm>
          <a:prstGeom prst="roundRect">
            <a:avLst>
              <a:gd name="adj" fmla="val 1102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_b"/>
          <p:cNvSpPr/>
          <p:nvPr/>
        </p:nvSpPr>
        <p:spPr>
          <a:xfrm>
            <a:off x="7655357" y="3887882"/>
            <a:ext cx="691286" cy="31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_c"/>
          <p:cNvSpPr/>
          <p:nvPr/>
        </p:nvSpPr>
        <p:spPr>
          <a:xfrm>
            <a:off x="7935163" y="4255252"/>
            <a:ext cx="131674" cy="88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_d"/>
          <p:cNvSpPr/>
          <p:nvPr/>
        </p:nvSpPr>
        <p:spPr>
          <a:xfrm>
            <a:off x="7795260" y="4344132"/>
            <a:ext cx="411480" cy="41477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 in C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4102</Words>
  <Application>Microsoft Office PowerPoint</Application>
  <PresentationFormat>On-screen Show (16:9)</PresentationFormat>
  <Paragraphs>650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Socket Programming in C</dc:title>
  <dc:subject>PptxGenJS Presentation</dc:subject>
  <dc:creator>Group coursework</dc:creator>
  <cp:lastModifiedBy>SHEMA KEVINE</cp:lastModifiedBy>
  <cp:revision>2</cp:revision>
  <dcterms:created xsi:type="dcterms:W3CDTF">2026-09-22T09:17:10Z</dcterms:created>
  <dcterms:modified xsi:type="dcterms:W3CDTF">2026-09-22T09:49:01Z</dcterms:modified>
</cp:coreProperties>
</file>